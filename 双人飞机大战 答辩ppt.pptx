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6"/>
  </p:notesMasterIdLst>
  <p:sldIdLst>
    <p:sldId id="256" r:id="rId1"/>
    <p:sldId id="257" r:id="rId2"/>
    <p:sldId id="258" r:id="rId3"/>
    <p:sldId id="259" r:id="rId4"/>
    <p:sldId id="260" r:id="rId5"/>
  </p:sldIdLst>
  <p:sldSz cx="12192000" cy="68580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6" Type="http://schemas.openxmlformats.org/officeDocument/2006/relationships/notesMaster" Target="notesMasters/notesMaster1.xml" /><Relationship Id="rId0" Type="http://schemas.openxmlformats.org/officeDocument/2006/relationships/slideMaster" Target="slideMasters/slideMaster1.xml" /><Relationship Id="rId5" Type="http://schemas.openxmlformats.org/officeDocument/2006/relationships/slide" Target="slides/slide5.xml" /><Relationship Id="rId1" Type="http://schemas.openxmlformats.org/officeDocument/2006/relationships/slide" Target="slides/slide1.xml" /><Relationship Id="rId4" Type="http://schemas.openxmlformats.org/officeDocument/2006/relationships/slide" Target="slides/slide4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7" Type="http://schemas.openxmlformats.org/officeDocument/2006/relationships/tableStyles" Target="tableStyle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fld id="{CA6A94F1-7E99-4DAB-9B4D-CE49F33D5093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fld id="{AB2062F8-609B-4CEA-A4F1-6D363EBA47A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0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<Relationships xmlns="http://schemas.openxmlformats.org/package/2006/relationships"><Relationship Id="rId0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<Relationships xmlns="http://schemas.openxmlformats.org/package/2006/relationships"><Relationship Id="rId0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<Relationships xmlns="http://schemas.openxmlformats.org/package/2006/relationships"><Relationship Id="rId0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.xml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 altLang="en-US"/>
              <a:t>各位老师好，我们是计算机科学与技术</a:t>
            </a:r>
            <a:r>
              <a:rPr lang="en-US" altLang="zh-CN"/>
              <a:t>12</a:t>
            </a:r>
            <a:r>
              <a:rPr lang="zh-CN" altLang="en-US"/>
              <a:t>班的薛卜玮和刘屹一。今天汇报的项目是</a:t>
            </a:r>
            <a:r>
              <a:rPr lang="en-US" altLang="zh-CN"/>
              <a:t>《</a:t>
            </a:r>
            <a:r>
              <a:rPr lang="zh-CN" altLang="en-US"/>
              <a:t>双人飞机大战</a:t>
            </a:r>
            <a:r>
              <a:rPr lang="en-US" altLang="zh-CN"/>
              <a:t>》</a:t>
            </a:r>
            <a:r>
              <a:rPr lang="zh-CN" altLang="en-US"/>
              <a:t>。这是一个使用</a:t>
            </a:r>
            <a:r>
              <a:rPr lang="en-US" altLang="zh-CN"/>
              <a:t>C++17</a:t>
            </a:r>
            <a:r>
              <a:rPr lang="zh-CN" altLang="en-US"/>
              <a:t>和</a:t>
            </a:r>
            <a:r>
              <a:rPr lang="en-US" altLang="zh-CN"/>
              <a:t>Qt 5</a:t>
            </a:r>
            <a:r>
              <a:rPr lang="zh-CN" altLang="en-US"/>
              <a:t>开发的本地双人纵版射击游戏。接下来将从项目定位、系统实现、技术亮点和总结展望四个方面进行介绍。</a:t>
            </a:r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/>
            <a:fld id="{AB2062F8-609B-4CEA-A4F1-6D363EBA47AB}" type="slidenum">
              <a:rPr lang="zh-CN" altLang="en-US" smtClean="0"/>
              <a:t>1</a:t>
            </a:fld>
            <a:endParaRPr lang="zh-CN" altLang="en-US"/>
          </a:p>
        </p:txBody>
      </p:sp>
    </p:spTree>
  </p:cSld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 altLang="en-US"/>
              <a:t>项目来源于经典飞机大战，但我们重点解决了传统单人玩法互动性不足的问题。项目面向本地双人场景，在同一个窗口和键盘上提供单人闯关、双人合作、双人对战三种模式。程序使用</a:t>
            </a:r>
            <a:r>
              <a:rPr lang="en-US" altLang="zh-CN"/>
              <a:t>C++17</a:t>
            </a:r>
            <a:r>
              <a:rPr lang="zh-CN" altLang="en-US"/>
              <a:t>和</a:t>
            </a:r>
            <a:r>
              <a:rPr lang="en-US" altLang="zh-CN"/>
              <a:t>Qt 5.14.2</a:t>
            </a:r>
            <a:r>
              <a:rPr lang="zh-CN" altLang="en-US"/>
              <a:t>开发，游戏循环目标约</a:t>
            </a:r>
            <a:r>
              <a:rPr lang="en-US" altLang="zh-CN"/>
              <a:t>60</a:t>
            </a:r>
            <a:r>
              <a:rPr lang="zh-CN" altLang="en-US"/>
              <a:t>帧，实际窗口为</a:t>
            </a:r>
            <a:r>
              <a:rPr lang="en-US" altLang="zh-CN"/>
              <a:t>900</a:t>
            </a:r>
            <a:r>
              <a:rPr lang="zh-CN" altLang="en-US"/>
              <a:t>乘</a:t>
            </a:r>
            <a:r>
              <a:rPr lang="en-US" altLang="zh-CN"/>
              <a:t>1050</a:t>
            </a:r>
            <a:r>
              <a:rPr lang="zh-CN" altLang="en-US"/>
              <a:t>像素。</a:t>
            </a:r>
            <a:endParaRPr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/>
            <a:fld id="{AB2062F8-609B-4CEA-A4F1-6D363EBA47AB}" type="slidenum">
              <a:rPr lang="zh-CN" altLang="en-US" smtClean="0"/>
              <a:t>2</a:t>
            </a:fld>
            <a:endParaRPr lang="zh-CN" altLang="en-US"/>
          </a:p>
        </p:txBody>
      </p:sp>
    </p:spTree>
  </p:cSld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 altLang="en-US"/>
              <a:t>系统采用三层结构。最上层</a:t>
            </a:r>
            <a:r>
              <a:rPr lang="en-US" altLang="zh-CN"/>
              <a:t>Game</a:t>
            </a:r>
            <a:r>
              <a:rPr lang="zh-CN" altLang="en-US"/>
              <a:t>负责页面切换；中间层</a:t>
            </a:r>
            <a:r>
              <a:rPr lang="en-US" altLang="zh-CN"/>
              <a:t>GameScene</a:t>
            </a:r>
            <a:r>
              <a:rPr lang="zh-CN" altLang="en-US"/>
              <a:t>是核心控制器，统一管理循环、敌机生成、碰撞、</a:t>
            </a:r>
            <a:r>
              <a:rPr lang="en-US" altLang="zh-CN"/>
              <a:t>HUD</a:t>
            </a:r>
            <a:r>
              <a:rPr lang="zh-CN" altLang="en-US"/>
              <a:t>和结算；底层</a:t>
            </a:r>
            <a:r>
              <a:rPr lang="en-US" altLang="zh-CN"/>
              <a:t>Player</a:t>
            </a:r>
            <a:r>
              <a:rPr lang="zh-CN" altLang="en-US"/>
              <a:t>、</a:t>
            </a:r>
            <a:r>
              <a:rPr lang="en-US" altLang="zh-CN"/>
              <a:t>Enemy</a:t>
            </a:r>
            <a:r>
              <a:rPr lang="zh-CN" altLang="en-US"/>
              <a:t>、</a:t>
            </a:r>
            <a:r>
              <a:rPr lang="en-US" altLang="zh-CN"/>
              <a:t>Bullet</a:t>
            </a:r>
            <a:r>
              <a:rPr lang="zh-CN" altLang="en-US"/>
              <a:t>和</a:t>
            </a:r>
            <a:r>
              <a:rPr lang="en-US" altLang="zh-CN"/>
              <a:t>PowerUp</a:t>
            </a:r>
            <a:r>
              <a:rPr lang="zh-CN" altLang="en-US"/>
              <a:t>分别封装实体行为。每一帧按照背景、对象推进、生成、碰撞、界面刷新和结束判定的顺序执行。模块间通过</a:t>
            </a:r>
            <a:r>
              <a:rPr lang="en-US" altLang="zh-CN"/>
              <a:t>Qt</a:t>
            </a:r>
            <a:r>
              <a:rPr lang="zh-CN" altLang="en-US"/>
              <a:t>信号槽传递事件，减少直接耦合。</a:t>
            </a:r>
            <a:endParaRPr/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/>
            <a:fld id="{AB2062F8-609B-4CEA-A4F1-6D363EBA47AB}" type="slidenum">
              <a:rPr lang="zh-CN" altLang="en-US" smtClean="0"/>
              <a:t>3</a:t>
            </a:fld>
            <a:endParaRPr lang="zh-CN" altLang="en-US"/>
          </a:p>
        </p:txBody>
      </p:sp>
    </p:spTree>
  </p:cSld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 altLang="en-US"/>
              <a:t>项目的第一个亮点是双人实时输入，通过按键集合支持多键同时按下，并对斜向速度做归一化。第二是敌机和</a:t>
            </a:r>
            <a:r>
              <a:rPr lang="en-US" altLang="zh-CN"/>
              <a:t>Boss</a:t>
            </a:r>
            <a:r>
              <a:rPr lang="zh-CN" altLang="en-US"/>
              <a:t>弹幕，正弦函数用于精英敌机摆动，三角函数用于计算环形和螺旋弹的方向。第三是精确碰撞与状态保护，通过</a:t>
            </a:r>
            <a:r>
              <a:rPr lang="en-US" altLang="zh-CN"/>
              <a:t>shape</a:t>
            </a:r>
            <a:r>
              <a:rPr lang="zh-CN" altLang="en-US"/>
              <a:t>轮廓、无敌帧和护盾改善游戏体验。第四是波次难度，参数随关卡逐步增长。</a:t>
            </a:r>
            <a:endParaRPr/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/>
            <a:fld id="{AB2062F8-609B-4CEA-A4F1-6D363EBA47AB}" type="slidenum">
              <a:rPr lang="zh-CN" altLang="en-US" smtClean="0"/>
              <a:t>4</a:t>
            </a:fld>
            <a:endParaRPr lang="zh-CN" altLang="en-US"/>
          </a:p>
        </p:txBody>
      </p:sp>
    </p:spTree>
  </p:cSld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 altLang="en-US"/>
              <a:t>目前项目已经形成了从菜单、游戏、</a:t>
            </a:r>
            <a:r>
              <a:rPr lang="en-US" altLang="zh-CN"/>
              <a:t>Boss</a:t>
            </a:r>
            <a:r>
              <a:rPr lang="zh-CN" altLang="en-US"/>
              <a:t>战到结算的完整闭环，也完成了</a:t>
            </a:r>
            <a:r>
              <a:rPr lang="en-US" altLang="zh-CN"/>
              <a:t>Windows</a:t>
            </a:r>
            <a:r>
              <a:rPr lang="zh-CN" altLang="en-US"/>
              <a:t>环境的构建和部署。下一阶段计划实现真正的暂停恢复、音效和最高分存档，将关卡参数改成</a:t>
            </a:r>
            <a:r>
              <a:rPr lang="en-US" altLang="zh-CN"/>
              <a:t>JSON</a:t>
            </a:r>
            <a:r>
              <a:rPr lang="zh-CN" altLang="en-US"/>
              <a:t>配置，并使用对象池和空间分区提升高密度弹幕性能。通过本项目，我们把面向对象、</a:t>
            </a:r>
            <a:r>
              <a:rPr lang="en-US" altLang="zh-CN"/>
              <a:t>Qt</a:t>
            </a:r>
            <a:r>
              <a:rPr lang="zh-CN" altLang="en-US"/>
              <a:t>事件机制、二维数学和工程部署整合到了一个完整产品中。我的汇报完毕，感谢各位老师。</a:t>
            </a:r>
            <a:endParaRPr/>
          </a:p>
        </p:txBody>
      </p:sp>
      <p:sp>
        <p:nvSpPr>
          <p:cNvPr id="2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/>
            <a:fld id="{AB2062F8-609B-4CEA-A4F1-6D363EBA47AB}" type="slidenum">
              <a:rPr lang="zh-CN" altLang="en-US" smtClean="0"/>
              <a:t>5</a:t>
            </a:fld>
            <a:endParaRPr lang="zh-CN" altLang="en-US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/>
            <a:r>
              <a:rPr lang="zh-CN" altLang="en-US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8BB599A-B7A3-4AFB-B031-ED8BADCC8EAF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AE6F5E8-2976-4658-9E42-8A6558A5D7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8BB599A-B7A3-4AFB-B031-ED8BADCC8EAF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AE6F5E8-2976-4658-9E42-8A6558A5D7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8BB599A-B7A3-4AFB-B031-ED8BADCC8EAF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AE6F5E8-2976-4658-9E42-8A6558A5D7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28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2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8BB599A-B7A3-4AFB-B031-ED8BADCC8EAF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3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3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AE6F5E8-2976-4658-9E42-8A6558A5D7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3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3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8BB599A-B7A3-4AFB-B031-ED8BADCC8EAF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3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4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AE6F5E8-2976-4658-9E42-8A6558A5D7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8BB599A-B7A3-4AFB-B031-ED8BADCC8EAF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4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4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AE6F5E8-2976-4658-9E42-8A6558A5D7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8BB599A-B7A3-4AFB-B031-ED8BADCC8EAF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4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4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AE6F5E8-2976-4658-9E42-8A6558A5D7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53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8BB599A-B7A3-4AFB-B031-ED8BADCC8EAF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5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AE6F5E8-2976-4658-9E42-8A6558A5D7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zh-CN" altLang="en-US"/>
          </a:p>
        </p:txBody>
      </p:sp>
      <p:sp>
        <p:nvSpPr>
          <p:cNvPr id="60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8BB599A-B7A3-4AFB-B031-ED8BADCC8EAF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6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AE6F5E8-2976-4658-9E42-8A6558A5D7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8BB599A-B7A3-4AFB-B031-ED8BADCC8EAF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AE6F5E8-2976-4658-9E42-8A6558A5D7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78BB599A-B7A3-4AFB-B031-ED8BADCC8EAF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1AE6F5E8-2976-4658-9E42-8A6558A5D7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slideLayout" Target="../slideLayouts/slideLayout3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6.xml" /><Relationship Id="rId3" Type="http://schemas.openxmlformats.org/officeDocument/2006/relationships/slideLayout" Target="../slideLayouts/slideLayout4.xml" /><Relationship Id="rId11" Type="http://schemas.openxmlformats.org/officeDocument/2006/relationships/theme" Target="../theme/theme1.xml" /><Relationship Id="rId4" Type="http://schemas.openxmlformats.org/officeDocument/2006/relationships/slideLayout" Target="../slideLayouts/slideLayout5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Relationship Id="rId9" Type="http://schemas.openxmlformats.org/officeDocument/2006/relationships/slideLayout" Target="../slideLayouts/slideLayout10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78BB599A-B7A3-4AFB-B031-ED8BADCC8EAF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1AE6F5E8-2976-4658-9E42-8A6558A5D7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.xml" /><Relationship Id="rId2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3" Type="http://schemas.openxmlformats.org/officeDocument/2006/relationships/image" Target="media/image3.png" /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2.xml" /><Relationship Id="rId2" Type="http://schemas.openxmlformats.org/officeDocument/2006/relationships/image" Target="media/image2.png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.xml" /><Relationship Id="rId0" Type="http://schemas.openxmlformats.org/officeDocument/2006/relationships/slideLayout" Target="../slideLayouts/slideLayout7.xml" /><Relationship Id="rId2" Type="http://schemas.openxmlformats.org/officeDocument/2006/relationships/image" Target="media/image2.png" /></Relationships>
</file>

<file path=ppt/slides/_rels/slide4.xml.rels><?xml version="1.0" encoding="UTF-8" standalone="yes"?><Relationships xmlns="http://schemas.openxmlformats.org/package/2006/relationships"><Relationship Id="rId3" Type="http://schemas.openxmlformats.org/officeDocument/2006/relationships/image" Target="media/image4.png" /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4.xml" /><Relationship Id="rId2" Type="http://schemas.openxmlformats.org/officeDocument/2006/relationships/image" Target="media/image2.png" /><Relationship Id="rId4" Type="http://schemas.openxmlformats.org/officeDocument/2006/relationships/image" Target="media/image5.png" /><Relationship Id="rId5" Type="http://schemas.openxmlformats.org/officeDocument/2006/relationships/image" Target="media/image6.png" /><Relationship Id="rId6" Type="http://schemas.openxmlformats.org/officeDocument/2006/relationships/image" Target="media/image7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5.xml" /><Relationship Id="rId2" Type="http://schemas.openxmlformats.org/officeDocument/2006/relationships/image" Target="media/image2.pn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F1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</p:spPr>
      </p:pic>
      <p:sp>
        <p:nvSpPr>
          <p:cNvPr id="3" name="矩形 2"/>
          <p:cNvSpPr/>
          <p:nvPr/>
        </p:nvSpPr>
        <p:spPr>
          <a:xfrm>
            <a:off x="228600" y="0"/>
            <a:ext cx="88900" cy="6858000"/>
          </a:xfrm>
          <a:prstGeom prst="rect">
            <a:avLst/>
          </a:prstGeom>
          <a:solidFill>
            <a:srgbClr val="FF5B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/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36600" y="812800"/>
            <a:ext cx="6096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altLang="zh-CN" sz="1600" b="1">
                <a:solidFill>
                  <a:srgbClr val="FFC145"/>
                </a:solidFill>
                <a:latin typeface="Consolas" panose="020B0609020204030204" pitchFamily="49" charset="0"/>
              </a:rPr>
              <a:t>AIR WAR</a:t>
            </a:r>
            <a:endParaRPr lang="zh-CN" altLang="en-US" sz="1600" b="1">
              <a:solidFill>
                <a:srgbClr val="FFC145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8500" y="1397000"/>
            <a:ext cx="7620000" cy="6413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sz="4200" b="1">
                <a:solidFill>
                  <a:schemeClr val="tx1">
                    <a:alpha val="100000"/>
                  </a:schemeClr>
                </a:solidFill>
                <a:latin typeface="Microsoft YaHei"/>
                <a:ea typeface="等线"/>
                <a:cs typeface="+mn-cs"/>
              </a:rPr>
              <a:t>双人飞机大战</a:t>
            </a:r>
            <a:endParaRPr/>
          </a:p>
        </p:txBody>
      </p:sp>
      <p:sp>
        <p:nvSpPr>
          <p:cNvPr id="6" name="文本框 5"/>
          <p:cNvSpPr txBox="1"/>
          <p:nvPr/>
        </p:nvSpPr>
        <p:spPr>
          <a:xfrm>
            <a:off x="736600" y="2387600"/>
            <a:ext cx="7112000" cy="2603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sz="1700">
                <a:solidFill>
                  <a:schemeClr val="tx1">
                    <a:alpha val="100000"/>
                  </a:schemeClr>
                </a:solidFill>
                <a:latin typeface="Microsoft YaHei"/>
                <a:ea typeface="等线"/>
                <a:cs typeface="+mn-cs"/>
              </a:rPr>
              <a:t>C++17 </a:t>
            </a:r>
            <a:r>
              <a:rPr lang="en-US" sz="1700">
                <a:solidFill>
                  <a:schemeClr val="tx1">
                    <a:alpha val="100000"/>
                  </a:schemeClr>
                </a:solidFill>
                <a:latin typeface="Microsoft YaHei"/>
                <a:ea typeface="等线"/>
                <a:cs typeface="+mn-cs"/>
              </a:rPr>
              <a:t>×</a:t>
            </a:r>
            <a:r>
              <a:rPr lang="en-US" sz="1700">
                <a:solidFill>
                  <a:schemeClr val="tx1">
                    <a:alpha val="100000"/>
                  </a:schemeClr>
                </a:solidFill>
                <a:latin typeface="Microsoft YaHei"/>
                <a:ea typeface="等线"/>
                <a:cs typeface="+mn-cs"/>
              </a:rPr>
              <a:t> Qt 5 </a:t>
            </a:r>
            <a:r>
              <a:rPr lang="zh-CN" sz="1700">
                <a:solidFill>
                  <a:schemeClr val="tx1">
                    <a:alpha val="100000"/>
                  </a:schemeClr>
                </a:solidFill>
                <a:latin typeface="Microsoft YaHei"/>
                <a:ea typeface="等线"/>
                <a:cs typeface="+mn-cs"/>
              </a:rPr>
              <a:t>本地双人纵版射击游戏</a:t>
            </a:r>
            <a:endParaRPr/>
          </a:p>
        </p:txBody>
      </p:sp>
      <p:cxnSp>
        <p:nvCxnSpPr>
          <p:cNvPr id="7" name="直接连接符 6"/>
          <p:cNvCxnSpPr/>
          <p:nvPr/>
        </p:nvCxnSpPr>
        <p:spPr>
          <a:xfrm>
            <a:off x="736600" y="3035300"/>
            <a:ext cx="6248400" cy="0"/>
          </a:xfrm>
          <a:prstGeom prst="line">
            <a:avLst/>
          </a:prstGeom>
          <a:ln w="19050">
            <a:solidFill>
              <a:srgbClr val="3E4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736600" y="3479800"/>
            <a:ext cx="127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sz="1100" b="1">
                <a:solidFill>
                  <a:srgbClr val="FFC145"/>
                </a:solidFill>
                <a:latin typeface="Microsoft YaHei" panose="020B0503020204020204" pitchFamily="34" charset="-122"/>
              </a:rPr>
              <a:t>项目成员</a:t>
            </a:r>
            <a:endParaRPr/>
          </a:p>
        </p:txBody>
      </p:sp>
      <p:sp>
        <p:nvSpPr>
          <p:cNvPr id="9" name="文本框 8"/>
          <p:cNvSpPr txBox="1"/>
          <p:nvPr/>
        </p:nvSpPr>
        <p:spPr>
          <a:xfrm>
            <a:off x="736600" y="3860800"/>
            <a:ext cx="5334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b="1">
                <a:solidFill>
                  <a:schemeClr val="tx1">
                    <a:alpha val="100000"/>
                  </a:schemeClr>
                </a:solidFill>
                <a:latin typeface="Microsoft YaHei"/>
                <a:ea typeface="等线"/>
                <a:cs typeface="+mn-cs"/>
              </a:rPr>
              <a:t>薛卜玮</a:t>
            </a:r>
            <a:r>
              <a:rPr lang="zh-CN" b="1">
                <a:solidFill>
                  <a:schemeClr val="tx1">
                    <a:alpha val="100000"/>
                  </a:schemeClr>
                </a:solidFill>
                <a:latin typeface="Microsoft YaHei"/>
                <a:ea typeface="等线"/>
                <a:cs typeface="+mn-cs"/>
              </a:rPr>
              <a:t>  </a:t>
            </a:r>
            <a:r>
              <a:rPr lang="en-US" b="1">
                <a:solidFill>
                  <a:schemeClr val="tx1">
                    <a:alpha val="100000"/>
                  </a:schemeClr>
                </a:solidFill>
                <a:latin typeface="Microsoft YaHei"/>
                <a:ea typeface="等线"/>
                <a:cs typeface="+mn-cs"/>
              </a:rPr>
              <a:t>·  2025141460023
</a:t>
            </a:r>
            <a:r>
              <a:rPr lang="zh-CN" b="1">
                <a:solidFill>
                  <a:schemeClr val="tx1">
                    <a:alpha val="100000"/>
                  </a:schemeClr>
                </a:solidFill>
                <a:latin typeface="Microsoft YaHei"/>
                <a:ea typeface="等线"/>
                <a:cs typeface="+mn-cs"/>
              </a:rPr>
              <a:t>刘屹一</a:t>
            </a:r>
            <a:r>
              <a:rPr lang="zh-CN" b="1">
                <a:solidFill>
                  <a:schemeClr val="tx1">
                    <a:alpha val="100000"/>
                  </a:schemeClr>
                </a:solidFill>
                <a:latin typeface="Microsoft YaHei"/>
                <a:ea typeface="等线"/>
                <a:cs typeface="+mn-cs"/>
              </a:rPr>
              <a:t>  </a:t>
            </a:r>
            <a:r>
              <a:rPr lang="en-US" b="1">
                <a:solidFill>
                  <a:schemeClr val="tx1">
                    <a:alpha val="100000"/>
                  </a:schemeClr>
                </a:solidFill>
                <a:latin typeface="Microsoft YaHei"/>
                <a:ea typeface="等线"/>
                <a:cs typeface="+mn-cs"/>
              </a:rPr>
              <a:t>·  2025141460420</a:t>
            </a:r>
            <a:endParaRPr lang="zh-CN" b="1">
              <a:solidFill>
                <a:srgbClr val="F5F7FA">
                  <a:alpha val="100000"/>
                </a:srgbClr>
              </a:solidFill>
              <a:latin typeface="Microsoft YaHei"/>
              <a:ea typeface="等线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36600" y="5105400"/>
            <a:ext cx="6477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sz="1200">
                <a:solidFill>
                  <a:schemeClr val="tx1">
                    <a:alpha val="100000"/>
                  </a:schemeClr>
                </a:solidFill>
                <a:latin typeface="Microsoft YaHei"/>
                <a:ea typeface="等线"/>
                <a:cs typeface="+mn-cs"/>
              </a:rPr>
              <a:t>计算机科学与技术</a:t>
            </a:r>
            <a:r>
              <a:rPr lang="zh-CN" sz="1200">
                <a:solidFill>
                  <a:schemeClr val="tx1">
                    <a:alpha val="100000"/>
                  </a:schemeClr>
                </a:solidFill>
                <a:latin typeface="Microsoft YaHei"/>
                <a:ea typeface="等线"/>
                <a:cs typeface="+mn-cs"/>
              </a:rPr>
              <a:t> </a:t>
            </a:r>
            <a:r>
              <a:rPr lang="en-US" sz="1200">
                <a:solidFill>
                  <a:schemeClr val="tx1">
                    <a:alpha val="100000"/>
                  </a:schemeClr>
                </a:solidFill>
                <a:latin typeface="Microsoft YaHei"/>
                <a:ea typeface="等线"/>
                <a:cs typeface="+mn-cs"/>
              </a:rPr>
              <a:t>· 12</a:t>
            </a:r>
            <a:r>
              <a:rPr lang="zh-CN" sz="1200">
                <a:solidFill>
                  <a:schemeClr val="tx1">
                    <a:alpha val="100000"/>
                  </a:schemeClr>
                </a:solidFill>
                <a:latin typeface="Microsoft YaHei"/>
                <a:ea typeface="等线"/>
                <a:cs typeface="+mn-cs"/>
              </a:rPr>
              <a:t>班</a:t>
            </a:r>
            <a:r>
              <a:rPr lang="zh-CN" sz="1200">
                <a:solidFill>
                  <a:schemeClr val="tx1">
                    <a:alpha val="100000"/>
                  </a:schemeClr>
                </a:solidFill>
                <a:latin typeface="Microsoft YaHei"/>
                <a:ea typeface="等线"/>
                <a:cs typeface="+mn-cs"/>
              </a:rPr>
              <a:t>     </a:t>
            </a:r>
            <a:r>
              <a:rPr lang="zh-CN" sz="1200">
                <a:solidFill>
                  <a:schemeClr val="tx1">
                    <a:alpha val="100000"/>
                  </a:schemeClr>
                </a:solidFill>
                <a:latin typeface="Microsoft YaHei"/>
                <a:ea typeface="等线"/>
                <a:cs typeface="+mn-cs"/>
              </a:rPr>
              <a:t>指导老师：唐庆生</a:t>
            </a:r>
            <a:endParaRPr/>
          </a:p>
        </p:txBody>
      </p:sp>
      <p:sp>
        <p:nvSpPr>
          <p:cNvPr id="11" name="文本框 14"/>
          <p:cNvSpPr txBox="1"/>
          <p:nvPr/>
        </p:nvSpPr>
        <p:spPr>
          <a:xfrm rot="0" flipH="0" flipV="0">
            <a:off x="-933539" y="4626521"/>
            <a:ext cx="2857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200" b="1">
                <a:solidFill>
                  <a:srgbClr val="FFC145"/>
                </a:solidFill>
                <a:latin typeface="Microsoft YaHei" panose="020B0503020204020204" pitchFamily="34" charset="-122"/>
              </a:rPr>
              <a:t>实习实训项目答辩</a:t>
            </a:r>
            <a:endParaRPr/>
          </a:p>
        </p:txBody>
      </p:sp>
      <p:sp>
        <p:nvSpPr>
          <p:cNvPr id="12" name="文本框 15"/>
          <p:cNvSpPr txBox="1"/>
          <p:nvPr/>
        </p:nvSpPr>
        <p:spPr>
          <a:xfrm>
            <a:off x="571500" y="6489700"/>
            <a:ext cx="3810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altLang="zh-CN" sz="850">
                <a:solidFill>
                  <a:srgbClr val="6A788A"/>
                </a:solidFill>
                <a:latin typeface="Microsoft YaHei" panose="020B0503020204020204" pitchFamily="34" charset="-122"/>
              </a:rPr>
              <a:t>AIR WAR · </a:t>
            </a:r>
            <a:r>
              <a:rPr lang="zh-CN" altLang="en-US" sz="850">
                <a:solidFill>
                  <a:srgbClr val="6A788A"/>
                </a:solidFill>
                <a:latin typeface="Microsoft YaHei" panose="020B0503020204020204" pitchFamily="34" charset="-122"/>
              </a:rPr>
              <a:t>实习实训项目答辩</a:t>
            </a:r>
            <a:endParaRPr/>
          </a:p>
        </p:txBody>
      </p:sp>
      <p:sp>
        <p:nvSpPr>
          <p:cNvPr id="13" name="文本框 16"/>
          <p:cNvSpPr txBox="1"/>
          <p:nvPr/>
        </p:nvSpPr>
        <p:spPr>
          <a:xfrm>
            <a:off x="11112500" y="64516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FFC145"/>
                </a:solidFill>
                <a:latin typeface="Consolas" panose="020B0609020204030204" pitchFamily="49" charset="0"/>
              </a:rPr>
              <a:t>01</a:t>
            </a:r>
            <a:endParaRPr lang="zh-CN" altLang="en-US" sz="900" b="1">
              <a:solidFill>
                <a:srgbClr val="FFC14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F141B"/>
        </a:solidFill>
        <a:effectLst/>
      </p:bgPr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</p:spPr>
      </p:pic>
      <p:sp>
        <p:nvSpPr>
          <p:cNvPr id="16" name="文本框 1"/>
          <p:cNvSpPr txBox="1"/>
          <p:nvPr/>
        </p:nvSpPr>
        <p:spPr>
          <a:xfrm>
            <a:off x="571500" y="393700"/>
            <a:ext cx="698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altLang="zh-CN" sz="1300" b="1">
                <a:solidFill>
                  <a:srgbClr val="FFC145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300" b="1">
              <a:solidFill>
                <a:srgbClr val="FFC14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2"/>
          <p:cNvSpPr txBox="1"/>
          <p:nvPr/>
        </p:nvSpPr>
        <p:spPr>
          <a:xfrm>
            <a:off x="1295400" y="304800"/>
            <a:ext cx="8255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sz="2600" b="1">
                <a:solidFill>
                  <a:schemeClr val="tx1">
                    <a:alpha val="100000"/>
                  </a:schemeClr>
                </a:solidFill>
                <a:latin typeface="Microsoft YaHei"/>
                <a:ea typeface="等线"/>
                <a:cs typeface="+mn-cs"/>
              </a:rPr>
              <a:t>项目介绍</a:t>
            </a:r>
            <a:endParaRPr/>
          </a:p>
        </p:txBody>
      </p:sp>
      <p:cxnSp>
        <p:nvCxnSpPr>
          <p:cNvPr id="18" name="直接连接符 3"/>
          <p:cNvCxnSpPr/>
          <p:nvPr/>
        </p:nvCxnSpPr>
        <p:spPr>
          <a:xfrm>
            <a:off x="571500" y="914400"/>
            <a:ext cx="11049000" cy="0"/>
          </a:xfrm>
          <a:prstGeom prst="line">
            <a:avLst/>
          </a:prstGeom>
          <a:ln w="12700">
            <a:solidFill>
              <a:srgbClr val="394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4"/>
          <p:cNvSpPr txBox="1"/>
          <p:nvPr/>
        </p:nvSpPr>
        <p:spPr>
          <a:xfrm>
            <a:off x="8636000" y="431800"/>
            <a:ext cx="298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000">
                <a:solidFill>
                  <a:srgbClr val="939FB0"/>
                </a:solidFill>
                <a:latin typeface="Microsoft YaHei" panose="020B0503020204020204" pitchFamily="34" charset="-122"/>
              </a:rPr>
              <a:t>从经典玩法到本地双人互动</a:t>
            </a:r>
            <a:endParaRPr/>
          </a:p>
        </p:txBody>
      </p:sp>
      <p:sp>
        <p:nvSpPr>
          <p:cNvPr id="20" name="文本框 5"/>
          <p:cNvSpPr txBox="1"/>
          <p:nvPr/>
        </p:nvSpPr>
        <p:spPr>
          <a:xfrm>
            <a:off x="571500" y="1282700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sz="1300" b="1">
                <a:solidFill>
                  <a:srgbClr val="FFC145"/>
                </a:solidFill>
                <a:latin typeface="Microsoft YaHei" panose="020B0503020204020204" pitchFamily="34" charset="-122"/>
              </a:rPr>
              <a:t>项目定位</a:t>
            </a:r>
            <a:endParaRPr/>
          </a:p>
        </p:txBody>
      </p:sp>
      <p:sp>
        <p:nvSpPr>
          <p:cNvPr id="21" name="文本框 6"/>
          <p:cNvSpPr txBox="1"/>
          <p:nvPr/>
        </p:nvSpPr>
        <p:spPr>
          <a:xfrm>
            <a:off x="571500" y="1739900"/>
            <a:ext cx="6858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sz="2000" b="1">
                <a:solidFill>
                  <a:srgbClr val="F5F7FA"/>
                </a:solidFill>
                <a:latin typeface="Microsoft YaHei" panose="020B0503020204020204" pitchFamily="34" charset="-122"/>
              </a:rPr>
              <a:t>在经典飞机大战的基础上，加入合作与对抗机制，形成无需联网、开箱即玩的本地双人 </a:t>
            </a:r>
            <a:r>
              <a:rPr lang="en-US" altLang="zh-CN" sz="2000" b="1">
                <a:solidFill>
                  <a:srgbClr val="F5F7FA"/>
                </a:solidFill>
                <a:latin typeface="Microsoft YaHei" panose="020B0503020204020204" pitchFamily="34" charset="-122"/>
              </a:rPr>
              <a:t>STG</a:t>
            </a:r>
            <a:r>
              <a:rPr lang="zh-CN" altLang="en-US" sz="2000" b="1">
                <a:solidFill>
                  <a:srgbClr val="F5F7FA"/>
                </a:solidFill>
                <a:latin typeface="Microsoft YaHei" panose="020B0503020204020204" pitchFamily="34" charset="-122"/>
              </a:rPr>
              <a:t>。</a:t>
            </a:r>
            <a:endParaRPr/>
          </a:p>
        </p:txBody>
      </p:sp>
      <p:sp>
        <p:nvSpPr>
          <p:cNvPr id="22" name="文本框 7"/>
          <p:cNvSpPr txBox="1"/>
          <p:nvPr/>
        </p:nvSpPr>
        <p:spPr>
          <a:xfrm>
            <a:off x="571500" y="2679700"/>
            <a:ext cx="6858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sz="1200">
                <a:solidFill>
                  <a:schemeClr val="tx1">
                    <a:alpha val="100000"/>
                  </a:schemeClr>
                </a:solidFill>
                <a:latin typeface="Microsoft YaHei"/>
                <a:ea typeface="等线"/>
                <a:cs typeface="+mn-cs"/>
              </a:rPr>
              <a:t>目标用户：喜欢短时对战、合作闯关以及双人同屏体验的玩家</a:t>
            </a:r>
            <a:r>
              <a:rPr lang="zh-CN" sz="1200">
                <a:solidFill>
                  <a:srgbClr val="ABB5C2">
                    <a:alpha val="100000"/>
                  </a:srgbClr>
                </a:solidFill>
                <a:latin typeface="Microsoft YaHei"/>
                <a:ea typeface="等线"/>
                <a:cs typeface="+mn-cs"/>
              </a:rPr>
              <a:t>。</a:t>
            </a:r>
            <a:endParaRPr/>
          </a:p>
        </p:txBody>
      </p:sp>
      <p:sp>
        <p:nvSpPr>
          <p:cNvPr id="23" name="矩形 8"/>
          <p:cNvSpPr/>
          <p:nvPr/>
        </p:nvSpPr>
        <p:spPr>
          <a:xfrm>
            <a:off x="571500" y="3517900"/>
            <a:ext cx="2159000" cy="1447800"/>
          </a:xfrm>
          <a:prstGeom prst="rect">
            <a:avLst/>
          </a:prstGeom>
          <a:solidFill>
            <a:srgbClr val="181F29"/>
          </a:solidFill>
          <a:ln w="25400">
            <a:solidFill>
              <a:srgbClr val="45A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9"/>
          <p:cNvSpPr/>
          <p:nvPr/>
        </p:nvSpPr>
        <p:spPr>
          <a:xfrm>
            <a:off x="571500" y="3517900"/>
            <a:ext cx="76200" cy="1447800"/>
          </a:xfrm>
          <a:prstGeom prst="rect">
            <a:avLst/>
          </a:prstGeom>
          <a:solidFill>
            <a:srgbClr val="45A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/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10"/>
          <p:cNvSpPr txBox="1"/>
          <p:nvPr/>
        </p:nvSpPr>
        <p:spPr>
          <a:xfrm>
            <a:off x="800100" y="3733800"/>
            <a:ext cx="1714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sz="1500" b="1">
                <a:solidFill>
                  <a:srgbClr val="F5F7FA"/>
                </a:solidFill>
                <a:latin typeface="Microsoft YaHei" panose="020B0503020204020204" pitchFamily="34" charset="-122"/>
              </a:rPr>
              <a:t>单人闯关</a:t>
            </a:r>
            <a:endParaRPr/>
          </a:p>
        </p:txBody>
      </p:sp>
      <p:sp>
        <p:nvSpPr>
          <p:cNvPr id="26" name="文本框 11"/>
          <p:cNvSpPr txBox="1"/>
          <p:nvPr/>
        </p:nvSpPr>
        <p:spPr>
          <a:xfrm>
            <a:off x="800100" y="4241800"/>
            <a:ext cx="17145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altLang="zh-CN" sz="1050">
                <a:solidFill>
                  <a:srgbClr val="ABB5C2"/>
                </a:solidFill>
                <a:latin typeface="Microsoft YaHei" panose="020B0503020204020204" pitchFamily="34" charset="-122"/>
              </a:rPr>
              <a:t>P1 </a:t>
            </a:r>
            <a:r>
              <a:rPr lang="zh-CN" altLang="en-US" sz="1050">
                <a:solidFill>
                  <a:srgbClr val="ABB5C2"/>
                </a:solidFill>
                <a:latin typeface="Microsoft YaHei" panose="020B0503020204020204" pitchFamily="34" charset="-122"/>
              </a:rPr>
              <a:t>独立挑战波次与 </a:t>
            </a:r>
            <a:r>
              <a:rPr lang="en-US" altLang="zh-CN" sz="1050">
                <a:solidFill>
                  <a:srgbClr val="ABB5C2"/>
                </a:solidFill>
                <a:latin typeface="Microsoft YaHei" panose="020B0503020204020204" pitchFamily="34" charset="-122"/>
              </a:rPr>
              <a:t>Boss</a:t>
            </a:r>
            <a:endParaRPr lang="zh-CN" altLang="en-US" sz="1050">
              <a:solidFill>
                <a:srgbClr val="ABB5C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矩形 12"/>
          <p:cNvSpPr/>
          <p:nvPr/>
        </p:nvSpPr>
        <p:spPr>
          <a:xfrm>
            <a:off x="2984500" y="3517900"/>
            <a:ext cx="2159000" cy="1447800"/>
          </a:xfrm>
          <a:prstGeom prst="rect">
            <a:avLst/>
          </a:prstGeom>
          <a:solidFill>
            <a:srgbClr val="181F29"/>
          </a:solidFill>
          <a:ln w="25400">
            <a:solidFill>
              <a:srgbClr val="46CD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13"/>
          <p:cNvSpPr/>
          <p:nvPr/>
        </p:nvSpPr>
        <p:spPr>
          <a:xfrm>
            <a:off x="2984500" y="3517900"/>
            <a:ext cx="76200" cy="1447800"/>
          </a:xfrm>
          <a:prstGeom prst="rect">
            <a:avLst/>
          </a:prstGeom>
          <a:solidFill>
            <a:srgbClr val="46CD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/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14"/>
          <p:cNvSpPr txBox="1"/>
          <p:nvPr/>
        </p:nvSpPr>
        <p:spPr>
          <a:xfrm>
            <a:off x="3213100" y="3733800"/>
            <a:ext cx="1714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sz="1500" b="1">
                <a:solidFill>
                  <a:srgbClr val="F5F7FA"/>
                </a:solidFill>
                <a:latin typeface="Microsoft YaHei" panose="020B0503020204020204" pitchFamily="34" charset="-122"/>
              </a:rPr>
              <a:t>双人合作</a:t>
            </a:r>
            <a:endParaRPr/>
          </a:p>
        </p:txBody>
      </p:sp>
      <p:sp>
        <p:nvSpPr>
          <p:cNvPr id="30" name="文本框 15"/>
          <p:cNvSpPr txBox="1"/>
          <p:nvPr/>
        </p:nvSpPr>
        <p:spPr>
          <a:xfrm>
            <a:off x="3213100" y="4241800"/>
            <a:ext cx="17145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sz="1050">
                <a:solidFill>
                  <a:srgbClr val="ABB5C2"/>
                </a:solidFill>
                <a:latin typeface="Microsoft YaHei" panose="020B0503020204020204" pitchFamily="34" charset="-122"/>
              </a:rPr>
              <a:t>共享战场、独立生命与得分</a:t>
            </a:r>
            <a:endParaRPr/>
          </a:p>
        </p:txBody>
      </p:sp>
      <p:sp>
        <p:nvSpPr>
          <p:cNvPr id="31" name="矩形 16"/>
          <p:cNvSpPr/>
          <p:nvPr/>
        </p:nvSpPr>
        <p:spPr>
          <a:xfrm>
            <a:off x="5397500" y="3517900"/>
            <a:ext cx="2159000" cy="1447800"/>
          </a:xfrm>
          <a:prstGeom prst="rect">
            <a:avLst/>
          </a:prstGeom>
          <a:solidFill>
            <a:srgbClr val="181F29"/>
          </a:solidFill>
          <a:ln w="25400">
            <a:solidFill>
              <a:srgbClr val="FF5B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17"/>
          <p:cNvSpPr/>
          <p:nvPr/>
        </p:nvSpPr>
        <p:spPr>
          <a:xfrm>
            <a:off x="5397500" y="3517900"/>
            <a:ext cx="76200" cy="1447800"/>
          </a:xfrm>
          <a:prstGeom prst="rect">
            <a:avLst/>
          </a:prstGeom>
          <a:solidFill>
            <a:srgbClr val="FF5B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/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18"/>
          <p:cNvSpPr txBox="1"/>
          <p:nvPr/>
        </p:nvSpPr>
        <p:spPr>
          <a:xfrm>
            <a:off x="5626100" y="3733800"/>
            <a:ext cx="1714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sz="1500" b="1">
                <a:solidFill>
                  <a:srgbClr val="F5F7FA"/>
                </a:solidFill>
                <a:latin typeface="Microsoft YaHei" panose="020B0503020204020204" pitchFamily="34" charset="-122"/>
              </a:rPr>
              <a:t>双人对战</a:t>
            </a:r>
            <a:endParaRPr/>
          </a:p>
        </p:txBody>
      </p:sp>
      <p:sp>
        <p:nvSpPr>
          <p:cNvPr id="34" name="文本框 19"/>
          <p:cNvSpPr txBox="1"/>
          <p:nvPr/>
        </p:nvSpPr>
        <p:spPr>
          <a:xfrm>
            <a:off x="5626100" y="4241800"/>
            <a:ext cx="17145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sz="1050">
                <a:solidFill>
                  <a:srgbClr val="ABB5C2"/>
                </a:solidFill>
                <a:latin typeface="Microsoft YaHei" panose="020B0503020204020204" pitchFamily="34" charset="-122"/>
              </a:rPr>
              <a:t>玩家互相攻击，率先击落获胜</a:t>
            </a:r>
            <a:endParaRPr/>
          </a:p>
        </p:txBody>
      </p:sp>
      <p:pic>
        <p:nvPicPr>
          <p:cNvPr id="35" name="图片 21"/>
          <p:cNvPicPr/>
          <p:nvPr/>
        </p:nvPicPr>
        <p:blipFill>
          <a:blip r:embed="rId3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8458200" y="1333500"/>
            <a:ext cx="2844800" cy="2768600"/>
          </a:xfrm>
          <a:prstGeom prst="rect">
            <a:avLst/>
          </a:prstGeom>
        </p:spPr>
      </p:pic>
      <p:sp>
        <p:nvSpPr>
          <p:cNvPr id="36" name="文本框 22"/>
          <p:cNvSpPr txBox="1"/>
          <p:nvPr/>
        </p:nvSpPr>
        <p:spPr>
          <a:xfrm>
            <a:off x="8509000" y="43561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100" b="1">
                <a:solidFill>
                  <a:srgbClr val="FFC145"/>
                </a:solidFill>
                <a:latin typeface="Microsoft YaHei" panose="020B0503020204020204" pitchFamily="34" charset="-122"/>
              </a:rPr>
              <a:t>核心运行指标</a:t>
            </a:r>
            <a:endParaRPr/>
          </a:p>
        </p:txBody>
      </p:sp>
      <p:sp>
        <p:nvSpPr>
          <p:cNvPr id="37" name="文本框 23"/>
          <p:cNvSpPr txBox="1"/>
          <p:nvPr/>
        </p:nvSpPr>
        <p:spPr>
          <a:xfrm>
            <a:off x="8255000" y="4787900"/>
            <a:ext cx="317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F5F7FA"/>
                </a:solidFill>
                <a:latin typeface="Consolas" panose="020B0609020204030204" pitchFamily="49" charset="0"/>
              </a:rPr>
              <a:t>C++17   |   Qt 5.14.2
</a:t>
            </a:r>
            <a:r>
              <a:rPr lang="zh-CN" altLang="en-US" sz="1500" b="1">
                <a:solidFill>
                  <a:srgbClr val="F5F7FA"/>
                </a:solidFill>
                <a:latin typeface="Consolas" panose="020B0609020204030204" pitchFamily="49" charset="0"/>
              </a:rPr>
              <a:t>约 </a:t>
            </a:r>
            <a:r>
              <a:rPr lang="en-US" altLang="zh-CN" sz="1500" b="1">
                <a:solidFill>
                  <a:srgbClr val="F5F7FA"/>
                </a:solidFill>
                <a:latin typeface="Consolas" panose="020B0609020204030204" pitchFamily="49" charset="0"/>
              </a:rPr>
              <a:t>60 FPS   |   900 × 1050</a:t>
            </a:r>
            <a:endParaRPr lang="zh-CN" altLang="en-US" sz="1500" b="1">
              <a:solidFill>
                <a:srgbClr val="F5F7FA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文本框 24"/>
          <p:cNvSpPr txBox="1"/>
          <p:nvPr/>
        </p:nvSpPr>
        <p:spPr>
          <a:xfrm>
            <a:off x="8826500" y="5727700"/>
            <a:ext cx="203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>
                <a:solidFill>
                  <a:srgbClr val="ABB5C2"/>
                </a:solidFill>
                <a:latin typeface="Microsoft YaHei" panose="020B0503020204020204" pitchFamily="34" charset="-122"/>
              </a:rPr>
              <a:t>当前版本：</a:t>
            </a:r>
            <a:r>
              <a:rPr lang="en-US" altLang="zh-CN" sz="1000">
                <a:solidFill>
                  <a:srgbClr val="ABB5C2"/>
                </a:solidFill>
                <a:latin typeface="Microsoft YaHei" panose="020B0503020204020204" pitchFamily="34" charset="-122"/>
              </a:rPr>
              <a:t>V1.3+</a:t>
            </a:r>
            <a:endParaRPr lang="zh-CN" altLang="en-US" sz="1000">
              <a:solidFill>
                <a:srgbClr val="ABB5C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25"/>
          <p:cNvSpPr txBox="1"/>
          <p:nvPr/>
        </p:nvSpPr>
        <p:spPr>
          <a:xfrm>
            <a:off x="571500" y="6489700"/>
            <a:ext cx="3810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altLang="zh-CN" sz="850">
                <a:solidFill>
                  <a:srgbClr val="6A788A"/>
                </a:solidFill>
                <a:latin typeface="Microsoft YaHei" panose="020B0503020204020204" pitchFamily="34" charset="-122"/>
              </a:rPr>
              <a:t>AIR WAR · </a:t>
            </a:r>
            <a:r>
              <a:rPr lang="zh-CN" altLang="en-US" sz="850">
                <a:solidFill>
                  <a:srgbClr val="6A788A"/>
                </a:solidFill>
                <a:latin typeface="Microsoft YaHei" panose="020B0503020204020204" pitchFamily="34" charset="-122"/>
              </a:rPr>
              <a:t>实习实训项目答辩</a:t>
            </a:r>
            <a:endParaRPr/>
          </a:p>
        </p:txBody>
      </p:sp>
      <p:sp>
        <p:nvSpPr>
          <p:cNvPr id="40" name="文本框 26"/>
          <p:cNvSpPr txBox="1"/>
          <p:nvPr/>
        </p:nvSpPr>
        <p:spPr>
          <a:xfrm>
            <a:off x="11112500" y="64516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FFC145"/>
                </a:solidFill>
                <a:latin typeface="Consolas" panose="020B0609020204030204" pitchFamily="49" charset="0"/>
              </a:rPr>
              <a:t>02</a:t>
            </a:r>
            <a:endParaRPr lang="zh-CN" altLang="en-US" sz="900" b="1">
              <a:solidFill>
                <a:srgbClr val="FFC14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F141B"/>
        </a:solidFill>
        <a:effectLst/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</p:spPr>
      </p:pic>
      <p:sp>
        <p:nvSpPr>
          <p:cNvPr id="43" name="文本框 1"/>
          <p:cNvSpPr txBox="1"/>
          <p:nvPr/>
        </p:nvSpPr>
        <p:spPr>
          <a:xfrm>
            <a:off x="571500" y="393700"/>
            <a:ext cx="698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altLang="zh-CN" sz="1300" b="1">
                <a:solidFill>
                  <a:srgbClr val="FFC145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300" b="1">
              <a:solidFill>
                <a:srgbClr val="FFC14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文本框 2"/>
          <p:cNvSpPr txBox="1"/>
          <p:nvPr/>
        </p:nvSpPr>
        <p:spPr>
          <a:xfrm>
            <a:off x="1295400" y="304800"/>
            <a:ext cx="8255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sz="2600" b="1">
                <a:solidFill>
                  <a:schemeClr val="tx1">
                    <a:alpha val="100000"/>
                  </a:schemeClr>
                </a:solidFill>
                <a:latin typeface="Microsoft YaHei"/>
                <a:ea typeface="等线"/>
                <a:cs typeface="+mn-cs"/>
              </a:rPr>
              <a:t>系统架构与实现</a:t>
            </a:r>
            <a:endParaRPr/>
          </a:p>
        </p:txBody>
      </p:sp>
      <p:cxnSp>
        <p:nvCxnSpPr>
          <p:cNvPr id="45" name="直接连接符 3"/>
          <p:cNvCxnSpPr/>
          <p:nvPr/>
        </p:nvCxnSpPr>
        <p:spPr>
          <a:xfrm>
            <a:off x="571500" y="914400"/>
            <a:ext cx="11049000" cy="0"/>
          </a:xfrm>
          <a:prstGeom prst="line">
            <a:avLst/>
          </a:prstGeom>
          <a:ln w="12700">
            <a:solidFill>
              <a:srgbClr val="394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"/>
          <p:cNvSpPr txBox="1"/>
          <p:nvPr/>
        </p:nvSpPr>
        <p:spPr>
          <a:xfrm>
            <a:off x="8636000" y="431800"/>
            <a:ext cx="298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000">
                <a:solidFill>
                  <a:srgbClr val="939FB0"/>
                </a:solidFill>
                <a:latin typeface="Microsoft YaHei" panose="020B0503020204020204" pitchFamily="34" charset="-122"/>
              </a:rPr>
              <a:t>界面流程、游戏场景、实体对象</a:t>
            </a:r>
            <a:endParaRPr/>
          </a:p>
        </p:txBody>
      </p:sp>
      <p:sp>
        <p:nvSpPr>
          <p:cNvPr id="47" name="文本框 5"/>
          <p:cNvSpPr txBox="1"/>
          <p:nvPr/>
        </p:nvSpPr>
        <p:spPr>
          <a:xfrm>
            <a:off x="571500" y="1219200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sz="1300" b="1">
                <a:solidFill>
                  <a:srgbClr val="FFC145"/>
                </a:solidFill>
                <a:latin typeface="Microsoft YaHei" panose="020B0503020204020204" pitchFamily="34" charset="-122"/>
              </a:rPr>
              <a:t>分层结构</a:t>
            </a:r>
            <a:endParaRPr/>
          </a:p>
        </p:txBody>
      </p:sp>
      <p:sp>
        <p:nvSpPr>
          <p:cNvPr id="48" name="矩形 6"/>
          <p:cNvSpPr/>
          <p:nvPr/>
        </p:nvSpPr>
        <p:spPr>
          <a:xfrm>
            <a:off x="571500" y="1676400"/>
            <a:ext cx="6096000" cy="990600"/>
          </a:xfrm>
          <a:prstGeom prst="rect">
            <a:avLst/>
          </a:prstGeom>
          <a:solidFill>
            <a:srgbClr val="181F29"/>
          </a:solidFill>
          <a:ln w="19050">
            <a:solidFill>
              <a:srgbClr val="45A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7"/>
          <p:cNvSpPr txBox="1"/>
          <p:nvPr/>
        </p:nvSpPr>
        <p:spPr>
          <a:xfrm>
            <a:off x="787400" y="1854200"/>
            <a:ext cx="1460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sz="1300" b="1">
                <a:solidFill>
                  <a:srgbClr val="45A0FF"/>
                </a:solidFill>
                <a:latin typeface="Microsoft YaHei" panose="020B0503020204020204" pitchFamily="34" charset="-122"/>
              </a:rPr>
              <a:t>流程控制层</a:t>
            </a:r>
            <a:endParaRPr/>
          </a:p>
        </p:txBody>
      </p:sp>
      <p:sp>
        <p:nvSpPr>
          <p:cNvPr id="50" name="文本框 8"/>
          <p:cNvSpPr txBox="1"/>
          <p:nvPr/>
        </p:nvSpPr>
        <p:spPr>
          <a:xfrm>
            <a:off x="2413000" y="1828800"/>
            <a:ext cx="381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altLang="zh-CN" sz="1400" b="1">
                <a:solidFill>
                  <a:srgbClr val="F5F7FA"/>
                </a:solidFill>
                <a:latin typeface="Consolas" panose="020B0609020204030204" pitchFamily="49" charset="0"/>
              </a:rPr>
              <a:t>Game · QStackedWidget</a:t>
            </a:r>
            <a:endParaRPr lang="zh-CN" altLang="en-US" sz="1400" b="1">
              <a:solidFill>
                <a:srgbClr val="F5F7FA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文本框 9"/>
          <p:cNvSpPr txBox="1"/>
          <p:nvPr/>
        </p:nvSpPr>
        <p:spPr>
          <a:xfrm>
            <a:off x="2413000" y="2222500"/>
            <a:ext cx="3810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sz="1050">
                <a:solidFill>
                  <a:srgbClr val="ABB5C2"/>
                </a:solidFill>
                <a:latin typeface="Microsoft YaHei" panose="020B0503020204020204" pitchFamily="34" charset="-122"/>
              </a:rPr>
              <a:t>菜单 </a:t>
            </a:r>
            <a:r>
              <a:rPr lang="en-US" altLang="zh-CN" sz="1050">
                <a:solidFill>
                  <a:srgbClr val="ABB5C2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050">
                <a:solidFill>
                  <a:srgbClr val="ABB5C2"/>
                </a:solidFill>
                <a:latin typeface="Microsoft YaHei" panose="020B0503020204020204" pitchFamily="34" charset="-122"/>
              </a:rPr>
              <a:t>帮助 </a:t>
            </a:r>
            <a:r>
              <a:rPr lang="en-US" altLang="zh-CN" sz="1050">
                <a:solidFill>
                  <a:srgbClr val="ABB5C2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050">
                <a:solidFill>
                  <a:srgbClr val="ABB5C2"/>
                </a:solidFill>
                <a:latin typeface="Microsoft YaHei" panose="020B0503020204020204" pitchFamily="34" charset="-122"/>
              </a:rPr>
              <a:t>游戏 </a:t>
            </a:r>
            <a:r>
              <a:rPr lang="en-US" altLang="zh-CN" sz="1050">
                <a:solidFill>
                  <a:srgbClr val="ABB5C2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050">
                <a:solidFill>
                  <a:srgbClr val="ABB5C2"/>
                </a:solidFill>
                <a:latin typeface="Microsoft YaHei" panose="020B0503020204020204" pitchFamily="34" charset="-122"/>
              </a:rPr>
              <a:t>结算</a:t>
            </a:r>
            <a:endParaRPr/>
          </a:p>
        </p:txBody>
      </p:sp>
      <p:cxnSp>
        <p:nvCxnSpPr>
          <p:cNvPr id="52" name="直接连接符 10"/>
          <p:cNvCxnSpPr/>
          <p:nvPr/>
        </p:nvCxnSpPr>
        <p:spPr>
          <a:xfrm>
            <a:off x="3619500" y="2667000"/>
            <a:ext cx="0" cy="330200"/>
          </a:xfrm>
          <a:prstGeom prst="line">
            <a:avLst/>
          </a:prstGeom>
          <a:ln w="19050">
            <a:solidFill>
              <a:srgbClr val="69778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11"/>
          <p:cNvSpPr/>
          <p:nvPr/>
        </p:nvSpPr>
        <p:spPr>
          <a:xfrm>
            <a:off x="571500" y="2997200"/>
            <a:ext cx="6096000" cy="990600"/>
          </a:xfrm>
          <a:prstGeom prst="rect">
            <a:avLst/>
          </a:prstGeom>
          <a:solidFill>
            <a:srgbClr val="181F29"/>
          </a:solidFill>
          <a:ln w="19050">
            <a:solidFill>
              <a:srgbClr val="FFC1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12"/>
          <p:cNvSpPr txBox="1"/>
          <p:nvPr/>
        </p:nvSpPr>
        <p:spPr>
          <a:xfrm>
            <a:off x="787400" y="3175000"/>
            <a:ext cx="1460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sz="1300" b="1">
                <a:solidFill>
                  <a:srgbClr val="FFC145"/>
                </a:solidFill>
                <a:latin typeface="Microsoft YaHei" panose="020B0503020204020204" pitchFamily="34" charset="-122"/>
              </a:rPr>
              <a:t>场景管理层</a:t>
            </a:r>
            <a:endParaRPr/>
          </a:p>
        </p:txBody>
      </p:sp>
      <p:sp>
        <p:nvSpPr>
          <p:cNvPr id="55" name="文本框 13"/>
          <p:cNvSpPr txBox="1"/>
          <p:nvPr/>
        </p:nvSpPr>
        <p:spPr>
          <a:xfrm>
            <a:off x="2413000" y="3149600"/>
            <a:ext cx="381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altLang="zh-CN" sz="1400" b="1">
                <a:solidFill>
                  <a:srgbClr val="F5F7FA"/>
                </a:solidFill>
                <a:latin typeface="Consolas" panose="020B0609020204030204" pitchFamily="49" charset="0"/>
              </a:rPr>
              <a:t>GameScene · QTimer</a:t>
            </a:r>
            <a:endParaRPr lang="zh-CN" altLang="en-US" sz="1400" b="1">
              <a:solidFill>
                <a:srgbClr val="F5F7FA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文本框 14"/>
          <p:cNvSpPr txBox="1"/>
          <p:nvPr/>
        </p:nvSpPr>
        <p:spPr>
          <a:xfrm>
            <a:off x="2413000" y="3543300"/>
            <a:ext cx="3810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sz="1050">
                <a:solidFill>
                  <a:srgbClr val="ABB5C2"/>
                </a:solidFill>
                <a:latin typeface="Microsoft YaHei" panose="020B0503020204020204" pitchFamily="34" charset="-122"/>
              </a:rPr>
              <a:t>生成 </a:t>
            </a:r>
            <a:r>
              <a:rPr lang="en-US" altLang="zh-CN" sz="1050">
                <a:solidFill>
                  <a:srgbClr val="ABB5C2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050">
                <a:solidFill>
                  <a:srgbClr val="ABB5C2"/>
                </a:solidFill>
                <a:latin typeface="Microsoft YaHei" panose="020B0503020204020204" pitchFamily="34" charset="-122"/>
              </a:rPr>
              <a:t>碰撞 </a:t>
            </a:r>
            <a:r>
              <a:rPr lang="en-US" altLang="zh-CN" sz="1050">
                <a:solidFill>
                  <a:srgbClr val="ABB5C2"/>
                </a:solidFill>
                <a:latin typeface="Microsoft YaHei" panose="020B0503020204020204" pitchFamily="34" charset="-122"/>
              </a:rPr>
              <a:t>/ HUD / </a:t>
            </a:r>
            <a:r>
              <a:rPr lang="zh-CN" altLang="en-US" sz="1050">
                <a:solidFill>
                  <a:srgbClr val="ABB5C2"/>
                </a:solidFill>
                <a:latin typeface="Microsoft YaHei" panose="020B0503020204020204" pitchFamily="34" charset="-122"/>
              </a:rPr>
              <a:t>状态判定</a:t>
            </a:r>
            <a:endParaRPr/>
          </a:p>
        </p:txBody>
      </p:sp>
      <p:cxnSp>
        <p:nvCxnSpPr>
          <p:cNvPr id="57" name="直接连接符 15"/>
          <p:cNvCxnSpPr/>
          <p:nvPr/>
        </p:nvCxnSpPr>
        <p:spPr>
          <a:xfrm>
            <a:off x="3619500" y="3987800"/>
            <a:ext cx="0" cy="330200"/>
          </a:xfrm>
          <a:prstGeom prst="line">
            <a:avLst/>
          </a:prstGeom>
          <a:ln w="19050">
            <a:solidFill>
              <a:srgbClr val="69778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16"/>
          <p:cNvSpPr/>
          <p:nvPr/>
        </p:nvSpPr>
        <p:spPr>
          <a:xfrm>
            <a:off x="571500" y="4318000"/>
            <a:ext cx="6096000" cy="990600"/>
          </a:xfrm>
          <a:prstGeom prst="rect">
            <a:avLst/>
          </a:prstGeom>
          <a:solidFill>
            <a:srgbClr val="181F29"/>
          </a:solidFill>
          <a:ln w="19050">
            <a:solidFill>
              <a:srgbClr val="46CD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17"/>
          <p:cNvSpPr txBox="1"/>
          <p:nvPr/>
        </p:nvSpPr>
        <p:spPr>
          <a:xfrm>
            <a:off x="787400" y="4495800"/>
            <a:ext cx="1460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sz="1300" b="1">
                <a:solidFill>
                  <a:srgbClr val="46CD8C"/>
                </a:solidFill>
                <a:latin typeface="Microsoft YaHei" panose="020B0503020204020204" pitchFamily="34" charset="-122"/>
              </a:rPr>
              <a:t>游戏实体层</a:t>
            </a:r>
            <a:endParaRPr/>
          </a:p>
        </p:txBody>
      </p:sp>
      <p:sp>
        <p:nvSpPr>
          <p:cNvPr id="60" name="文本框 18"/>
          <p:cNvSpPr txBox="1"/>
          <p:nvPr/>
        </p:nvSpPr>
        <p:spPr>
          <a:xfrm>
            <a:off x="2413000" y="4470400"/>
            <a:ext cx="381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altLang="zh-CN" sz="1400" b="1">
                <a:solidFill>
                  <a:srgbClr val="F5F7FA"/>
                </a:solidFill>
                <a:latin typeface="Consolas" panose="020B0609020204030204" pitchFamily="49" charset="0"/>
              </a:rPr>
              <a:t>QGraphicsObject</a:t>
            </a:r>
            <a:endParaRPr lang="zh-CN" altLang="en-US" sz="1400" b="1">
              <a:solidFill>
                <a:srgbClr val="F5F7FA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文本框 19"/>
          <p:cNvSpPr txBox="1"/>
          <p:nvPr/>
        </p:nvSpPr>
        <p:spPr>
          <a:xfrm>
            <a:off x="2413000" y="4864100"/>
            <a:ext cx="3810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altLang="zh-CN" sz="1050">
                <a:solidFill>
                  <a:srgbClr val="ABB5C2"/>
                </a:solidFill>
                <a:latin typeface="Microsoft YaHei" panose="020B0503020204020204" pitchFamily="34" charset="-122"/>
              </a:rPr>
              <a:t>Player / Enemy / Bullet / PowerUp</a:t>
            </a:r>
            <a:endParaRPr lang="zh-CN" altLang="en-US" sz="1050">
              <a:solidFill>
                <a:srgbClr val="ABB5C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2" name="文本框 20"/>
          <p:cNvSpPr txBox="1"/>
          <p:nvPr/>
        </p:nvSpPr>
        <p:spPr>
          <a:xfrm>
            <a:off x="7429500" y="12192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sz="1300" b="1">
                <a:solidFill>
                  <a:srgbClr val="FFC145"/>
                </a:solidFill>
                <a:latin typeface="Microsoft YaHei" panose="020B0503020204020204" pitchFamily="34" charset="-122"/>
              </a:rPr>
              <a:t>单帧运行流程</a:t>
            </a:r>
            <a:endParaRPr/>
          </a:p>
        </p:txBody>
      </p:sp>
      <p:sp>
        <p:nvSpPr>
          <p:cNvPr id="63" name="矩形 21"/>
          <p:cNvSpPr/>
          <p:nvPr/>
        </p:nvSpPr>
        <p:spPr>
          <a:xfrm>
            <a:off x="7429500" y="1714500"/>
            <a:ext cx="4064000" cy="444500"/>
          </a:xfrm>
          <a:prstGeom prst="rect">
            <a:avLst/>
          </a:prstGeom>
          <a:solidFill>
            <a:srgbClr val="181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/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22"/>
          <p:cNvSpPr txBox="1"/>
          <p:nvPr/>
        </p:nvSpPr>
        <p:spPr>
          <a:xfrm>
            <a:off x="7645400" y="1816100"/>
            <a:ext cx="3619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altLang="zh-CN" sz="1150">
                <a:solidFill>
                  <a:srgbClr val="F5F7FA"/>
                </a:solidFill>
                <a:latin typeface="Microsoft YaHei" panose="020B0503020204020204" pitchFamily="34" charset="-122"/>
              </a:rPr>
              <a:t>1  </a:t>
            </a:r>
            <a:r>
              <a:rPr lang="zh-CN" altLang="en-US" sz="1150">
                <a:solidFill>
                  <a:srgbClr val="F5F7FA"/>
                </a:solidFill>
                <a:latin typeface="Microsoft YaHei" panose="020B0503020204020204" pitchFamily="34" charset="-122"/>
              </a:rPr>
              <a:t>滚动背景</a:t>
            </a:r>
            <a:endParaRPr/>
          </a:p>
        </p:txBody>
      </p:sp>
      <p:sp>
        <p:nvSpPr>
          <p:cNvPr id="65" name="矩形 23"/>
          <p:cNvSpPr/>
          <p:nvPr/>
        </p:nvSpPr>
        <p:spPr>
          <a:xfrm>
            <a:off x="7429500" y="2336800"/>
            <a:ext cx="4064000" cy="444500"/>
          </a:xfrm>
          <a:prstGeom prst="rect">
            <a:avLst/>
          </a:prstGeom>
          <a:solidFill>
            <a:srgbClr val="1F27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/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24"/>
          <p:cNvSpPr txBox="1"/>
          <p:nvPr/>
        </p:nvSpPr>
        <p:spPr>
          <a:xfrm>
            <a:off x="7645400" y="2438400"/>
            <a:ext cx="3619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altLang="zh-CN" sz="1150">
                <a:solidFill>
                  <a:srgbClr val="F5F7FA"/>
                </a:solidFill>
                <a:latin typeface="Microsoft YaHei" panose="020B0503020204020204" pitchFamily="34" charset="-122"/>
              </a:rPr>
              <a:t>2  </a:t>
            </a:r>
            <a:r>
              <a:rPr lang="zh-CN" altLang="en-US" sz="1150">
                <a:solidFill>
                  <a:srgbClr val="F5F7FA"/>
                </a:solidFill>
                <a:latin typeface="Microsoft YaHei" panose="020B0503020204020204" pitchFamily="34" charset="-122"/>
              </a:rPr>
              <a:t>推进所有图元</a:t>
            </a:r>
            <a:endParaRPr/>
          </a:p>
        </p:txBody>
      </p:sp>
      <p:sp>
        <p:nvSpPr>
          <p:cNvPr id="67" name="矩形 25"/>
          <p:cNvSpPr/>
          <p:nvPr/>
        </p:nvSpPr>
        <p:spPr>
          <a:xfrm>
            <a:off x="7429500" y="2959100"/>
            <a:ext cx="4064000" cy="444500"/>
          </a:xfrm>
          <a:prstGeom prst="rect">
            <a:avLst/>
          </a:prstGeom>
          <a:solidFill>
            <a:srgbClr val="181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/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26"/>
          <p:cNvSpPr txBox="1"/>
          <p:nvPr/>
        </p:nvSpPr>
        <p:spPr>
          <a:xfrm>
            <a:off x="7645400" y="3060700"/>
            <a:ext cx="3619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altLang="zh-CN" sz="1150">
                <a:solidFill>
                  <a:srgbClr val="F5F7FA"/>
                </a:solidFill>
                <a:latin typeface="Microsoft YaHei" panose="020B0503020204020204" pitchFamily="34" charset="-122"/>
              </a:rPr>
              <a:t>3  </a:t>
            </a:r>
            <a:r>
              <a:rPr lang="zh-CN" altLang="en-US" sz="1150">
                <a:solidFill>
                  <a:srgbClr val="F5F7FA"/>
                </a:solidFill>
                <a:latin typeface="Microsoft YaHei" panose="020B0503020204020204" pitchFamily="34" charset="-122"/>
              </a:rPr>
              <a:t>生成敌机与 </a:t>
            </a:r>
            <a:r>
              <a:rPr lang="en-US" altLang="zh-CN" sz="1150">
                <a:solidFill>
                  <a:srgbClr val="F5F7FA"/>
                </a:solidFill>
                <a:latin typeface="Microsoft YaHei" panose="020B0503020204020204" pitchFamily="34" charset="-122"/>
              </a:rPr>
              <a:t>Boss</a:t>
            </a:r>
            <a:endParaRPr lang="zh-CN" altLang="en-US" sz="1150">
              <a:solidFill>
                <a:srgbClr val="F5F7F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9" name="矩形 27"/>
          <p:cNvSpPr/>
          <p:nvPr/>
        </p:nvSpPr>
        <p:spPr>
          <a:xfrm>
            <a:off x="7429500" y="3581400"/>
            <a:ext cx="4064000" cy="444500"/>
          </a:xfrm>
          <a:prstGeom prst="rect">
            <a:avLst/>
          </a:prstGeom>
          <a:solidFill>
            <a:srgbClr val="1F27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/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28"/>
          <p:cNvSpPr txBox="1"/>
          <p:nvPr/>
        </p:nvSpPr>
        <p:spPr>
          <a:xfrm>
            <a:off x="7645400" y="3683000"/>
            <a:ext cx="3619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altLang="zh-CN" sz="1150" b="1">
                <a:solidFill>
                  <a:srgbClr val="F5F7FA"/>
                </a:solidFill>
                <a:latin typeface="Microsoft YaHei" panose="020B0503020204020204" pitchFamily="34" charset="-122"/>
              </a:rPr>
              <a:t>4  </a:t>
            </a:r>
            <a:r>
              <a:rPr lang="zh-CN" altLang="en-US" sz="1150" b="1">
                <a:solidFill>
                  <a:srgbClr val="F5F7FA"/>
                </a:solidFill>
                <a:latin typeface="Microsoft YaHei" panose="020B0503020204020204" pitchFamily="34" charset="-122"/>
              </a:rPr>
              <a:t>检测四类碰撞</a:t>
            </a:r>
            <a:endParaRPr/>
          </a:p>
        </p:txBody>
      </p:sp>
      <p:sp>
        <p:nvSpPr>
          <p:cNvPr id="71" name="矩形 29"/>
          <p:cNvSpPr/>
          <p:nvPr/>
        </p:nvSpPr>
        <p:spPr>
          <a:xfrm>
            <a:off x="7429500" y="4203700"/>
            <a:ext cx="4064000" cy="444500"/>
          </a:xfrm>
          <a:prstGeom prst="rect">
            <a:avLst/>
          </a:prstGeom>
          <a:solidFill>
            <a:srgbClr val="181F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/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30"/>
          <p:cNvSpPr txBox="1"/>
          <p:nvPr/>
        </p:nvSpPr>
        <p:spPr>
          <a:xfrm>
            <a:off x="7645400" y="4305300"/>
            <a:ext cx="3619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altLang="zh-CN" sz="1150">
                <a:solidFill>
                  <a:srgbClr val="F5F7FA"/>
                </a:solidFill>
                <a:latin typeface="Microsoft YaHei" panose="020B0503020204020204" pitchFamily="34" charset="-122"/>
              </a:rPr>
              <a:t>5  </a:t>
            </a:r>
            <a:r>
              <a:rPr lang="zh-CN" altLang="en-US" sz="1150">
                <a:solidFill>
                  <a:srgbClr val="F5F7FA"/>
                </a:solidFill>
                <a:latin typeface="Microsoft YaHei" panose="020B0503020204020204" pitchFamily="34" charset="-122"/>
              </a:rPr>
              <a:t>刷新 </a:t>
            </a:r>
            <a:r>
              <a:rPr lang="en-US" altLang="zh-CN" sz="1150">
                <a:solidFill>
                  <a:srgbClr val="F5F7FA"/>
                </a:solidFill>
                <a:latin typeface="Microsoft YaHei" panose="020B0503020204020204" pitchFamily="34" charset="-122"/>
              </a:rPr>
              <a:t>HUD</a:t>
            </a:r>
            <a:endParaRPr lang="zh-CN" altLang="en-US" sz="1150">
              <a:solidFill>
                <a:srgbClr val="F5F7F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3" name="矩形 31"/>
          <p:cNvSpPr/>
          <p:nvPr/>
        </p:nvSpPr>
        <p:spPr>
          <a:xfrm>
            <a:off x="7429500" y="4826000"/>
            <a:ext cx="4064000" cy="444500"/>
          </a:xfrm>
          <a:prstGeom prst="rect">
            <a:avLst/>
          </a:prstGeom>
          <a:solidFill>
            <a:srgbClr val="1F27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/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32"/>
          <p:cNvSpPr txBox="1"/>
          <p:nvPr/>
        </p:nvSpPr>
        <p:spPr>
          <a:xfrm>
            <a:off x="7645400" y="4927600"/>
            <a:ext cx="3619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altLang="zh-CN" sz="1150" b="1">
                <a:solidFill>
                  <a:srgbClr val="F5F7FA"/>
                </a:solidFill>
                <a:latin typeface="Microsoft YaHei" panose="020B0503020204020204" pitchFamily="34" charset="-122"/>
              </a:rPr>
              <a:t>6  </a:t>
            </a:r>
            <a:r>
              <a:rPr lang="zh-CN" altLang="en-US" sz="1150" b="1">
                <a:solidFill>
                  <a:srgbClr val="F5F7FA"/>
                </a:solidFill>
                <a:latin typeface="Microsoft YaHei" panose="020B0503020204020204" pitchFamily="34" charset="-122"/>
              </a:rPr>
              <a:t>判断模式结束条件</a:t>
            </a:r>
            <a:endParaRPr/>
          </a:p>
        </p:txBody>
      </p:sp>
      <p:sp>
        <p:nvSpPr>
          <p:cNvPr id="75" name="矩形 33"/>
          <p:cNvSpPr/>
          <p:nvPr/>
        </p:nvSpPr>
        <p:spPr>
          <a:xfrm>
            <a:off x="7429500" y="5676900"/>
            <a:ext cx="4064000" cy="482600"/>
          </a:xfrm>
          <a:prstGeom prst="rect">
            <a:avLst/>
          </a:prstGeom>
          <a:solidFill>
            <a:srgbClr val="2B3240"/>
          </a:solidFill>
          <a:ln w="12700">
            <a:solidFill>
              <a:srgbClr val="A86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文本框 34"/>
          <p:cNvSpPr txBox="1"/>
          <p:nvPr/>
        </p:nvSpPr>
        <p:spPr>
          <a:xfrm>
            <a:off x="7607300" y="5816600"/>
            <a:ext cx="3683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50">
                <a:solidFill>
                  <a:srgbClr val="ABB5C2"/>
                </a:solidFill>
                <a:latin typeface="Microsoft YaHei" panose="020B0503020204020204" pitchFamily="34" charset="-122"/>
              </a:rPr>
              <a:t>Qt </a:t>
            </a:r>
            <a:r>
              <a:rPr lang="zh-CN" altLang="en-US" sz="1050">
                <a:solidFill>
                  <a:srgbClr val="ABB5C2"/>
                </a:solidFill>
                <a:latin typeface="Microsoft YaHei" panose="020B0503020204020204" pitchFamily="34" charset="-122"/>
              </a:rPr>
              <a:t>信号槽：模式选择 </a:t>
            </a:r>
            <a:r>
              <a:rPr lang="en-US" altLang="zh-CN" sz="1050">
                <a:solidFill>
                  <a:srgbClr val="ABB5C2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050">
                <a:solidFill>
                  <a:srgbClr val="ABB5C2"/>
                </a:solidFill>
                <a:latin typeface="Microsoft YaHei" panose="020B0503020204020204" pitchFamily="34" charset="-122"/>
              </a:rPr>
              <a:t>炸弹 </a:t>
            </a:r>
            <a:r>
              <a:rPr lang="en-US" altLang="zh-CN" sz="1050">
                <a:solidFill>
                  <a:srgbClr val="ABB5C2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050">
                <a:solidFill>
                  <a:srgbClr val="ABB5C2"/>
                </a:solidFill>
                <a:latin typeface="Microsoft YaHei" panose="020B0503020204020204" pitchFamily="34" charset="-122"/>
              </a:rPr>
              <a:t>死亡 </a:t>
            </a:r>
            <a:r>
              <a:rPr lang="en-US" altLang="zh-CN" sz="1050">
                <a:solidFill>
                  <a:srgbClr val="ABB5C2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050">
                <a:solidFill>
                  <a:srgbClr val="ABB5C2"/>
                </a:solidFill>
                <a:latin typeface="Microsoft YaHei" panose="020B0503020204020204" pitchFamily="34" charset="-122"/>
              </a:rPr>
              <a:t>结算</a:t>
            </a:r>
            <a:endParaRPr/>
          </a:p>
        </p:txBody>
      </p:sp>
      <p:sp>
        <p:nvSpPr>
          <p:cNvPr id="77" name="文本框 35"/>
          <p:cNvSpPr txBox="1"/>
          <p:nvPr/>
        </p:nvSpPr>
        <p:spPr>
          <a:xfrm>
            <a:off x="571500" y="6489700"/>
            <a:ext cx="3810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altLang="zh-CN" sz="850">
                <a:solidFill>
                  <a:srgbClr val="6A788A"/>
                </a:solidFill>
                <a:latin typeface="Microsoft YaHei" panose="020B0503020204020204" pitchFamily="34" charset="-122"/>
              </a:rPr>
              <a:t>AIR WAR · </a:t>
            </a:r>
            <a:r>
              <a:rPr lang="zh-CN" altLang="en-US" sz="850">
                <a:solidFill>
                  <a:srgbClr val="6A788A"/>
                </a:solidFill>
                <a:latin typeface="Microsoft YaHei" panose="020B0503020204020204" pitchFamily="34" charset="-122"/>
              </a:rPr>
              <a:t>实习实训项目答辩</a:t>
            </a:r>
            <a:endParaRPr/>
          </a:p>
        </p:txBody>
      </p:sp>
      <p:sp>
        <p:nvSpPr>
          <p:cNvPr id="78" name="文本框 36"/>
          <p:cNvSpPr txBox="1"/>
          <p:nvPr/>
        </p:nvSpPr>
        <p:spPr>
          <a:xfrm>
            <a:off x="11112500" y="64516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FFC145"/>
                </a:solidFill>
                <a:latin typeface="Consolas" panose="020B0609020204030204" pitchFamily="49" charset="0"/>
              </a:rPr>
              <a:t>03</a:t>
            </a:r>
            <a:endParaRPr lang="zh-CN" altLang="en-US" sz="900" b="1">
              <a:solidFill>
                <a:srgbClr val="FFC14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F141B"/>
        </a:solidFill>
        <a:effectLst/>
      </p:bgPr>
    </p:bg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</p:spPr>
      </p:pic>
      <p:sp>
        <p:nvSpPr>
          <p:cNvPr id="81" name="文本框 1"/>
          <p:cNvSpPr txBox="1"/>
          <p:nvPr/>
        </p:nvSpPr>
        <p:spPr>
          <a:xfrm>
            <a:off x="571500" y="393700"/>
            <a:ext cx="698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altLang="zh-CN" sz="1300" b="1">
                <a:solidFill>
                  <a:srgbClr val="FFC145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300" b="1">
              <a:solidFill>
                <a:srgbClr val="FFC14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2" name="文本框 2"/>
          <p:cNvSpPr txBox="1"/>
          <p:nvPr/>
        </p:nvSpPr>
        <p:spPr>
          <a:xfrm>
            <a:off x="1295400" y="304800"/>
            <a:ext cx="8255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sz="2600" b="1">
                <a:solidFill>
                  <a:schemeClr val="tx1">
                    <a:alpha val="100000"/>
                  </a:schemeClr>
                </a:solidFill>
                <a:latin typeface="Microsoft YaHei"/>
                <a:ea typeface="等线"/>
                <a:cs typeface="+mn-cs"/>
              </a:rPr>
              <a:t>项目亮点</a:t>
            </a:r>
            <a:endParaRPr/>
          </a:p>
        </p:txBody>
      </p:sp>
      <p:cxnSp>
        <p:nvCxnSpPr>
          <p:cNvPr id="83" name="直接连接符 3"/>
          <p:cNvCxnSpPr/>
          <p:nvPr/>
        </p:nvCxnSpPr>
        <p:spPr>
          <a:xfrm>
            <a:off x="571500" y="914400"/>
            <a:ext cx="11049000" cy="0"/>
          </a:xfrm>
          <a:prstGeom prst="line">
            <a:avLst/>
          </a:prstGeom>
          <a:ln w="12700">
            <a:solidFill>
              <a:srgbClr val="394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4"/>
          <p:cNvSpPr txBox="1"/>
          <p:nvPr/>
        </p:nvSpPr>
        <p:spPr>
          <a:xfrm>
            <a:off x="8636000" y="431800"/>
            <a:ext cx="298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000">
                <a:solidFill>
                  <a:srgbClr val="939FB0"/>
                </a:solidFill>
                <a:latin typeface="Microsoft YaHei" panose="020B0503020204020204" pitchFamily="34" charset="-122"/>
              </a:rPr>
              <a:t>玩法完整性与二维算法结合</a:t>
            </a:r>
            <a:endParaRPr/>
          </a:p>
        </p:txBody>
      </p:sp>
      <p:sp>
        <p:nvSpPr>
          <p:cNvPr id="85" name="矩形 5"/>
          <p:cNvSpPr/>
          <p:nvPr/>
        </p:nvSpPr>
        <p:spPr>
          <a:xfrm>
            <a:off x="571500" y="1422400"/>
            <a:ext cx="5270500" cy="1739900"/>
          </a:xfrm>
          <a:prstGeom prst="rect">
            <a:avLst/>
          </a:prstGeom>
          <a:solidFill>
            <a:srgbClr val="181F29"/>
          </a:solidFill>
          <a:ln w="12700">
            <a:solidFill>
              <a:srgbClr val="313B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文本框 6"/>
          <p:cNvSpPr txBox="1"/>
          <p:nvPr/>
        </p:nvSpPr>
        <p:spPr>
          <a:xfrm>
            <a:off x="800100" y="1638300"/>
            <a:ext cx="571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altLang="zh-CN" sz="1700" b="1">
                <a:solidFill>
                  <a:srgbClr val="45A0FF"/>
                </a:solidFill>
                <a:latin typeface="Consolas" panose="020B0609020204030204" pitchFamily="49" charset="0"/>
              </a:rPr>
              <a:t>01</a:t>
            </a:r>
            <a:endParaRPr lang="zh-CN" altLang="en-US" sz="1700" b="1">
              <a:solidFill>
                <a:srgbClr val="45A0FF"/>
              </a:solidFill>
              <a:latin typeface="Consolas" panose="020B0609020204030204" pitchFamily="49" charset="0"/>
            </a:endParaRPr>
          </a:p>
        </p:txBody>
      </p:sp>
      <p:sp>
        <p:nvSpPr>
          <p:cNvPr id="87" name="文本框 7"/>
          <p:cNvSpPr txBox="1"/>
          <p:nvPr/>
        </p:nvSpPr>
        <p:spPr>
          <a:xfrm>
            <a:off x="1485900" y="1638300"/>
            <a:ext cx="3937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sz="1500" b="1">
                <a:solidFill>
                  <a:srgbClr val="F5F7FA"/>
                </a:solidFill>
                <a:latin typeface="Microsoft YaHei" panose="020B0503020204020204" pitchFamily="34" charset="-122"/>
              </a:rPr>
              <a:t>双人实时输入</a:t>
            </a:r>
            <a:endParaRPr/>
          </a:p>
        </p:txBody>
      </p:sp>
      <p:sp>
        <p:nvSpPr>
          <p:cNvPr id="88" name="文本框 8"/>
          <p:cNvSpPr txBox="1"/>
          <p:nvPr/>
        </p:nvSpPr>
        <p:spPr>
          <a:xfrm>
            <a:off x="1485900" y="2146300"/>
            <a:ext cx="3937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altLang="zh-CN" sz="1100">
                <a:solidFill>
                  <a:srgbClr val="ABB5C2"/>
                </a:solidFill>
                <a:latin typeface="Microsoft YaHei" panose="020B0503020204020204" pitchFamily="34" charset="-122"/>
              </a:rPr>
              <a:t>QSet </a:t>
            </a:r>
            <a:r>
              <a:rPr lang="zh-CN" altLang="en-US" sz="1100">
                <a:solidFill>
                  <a:srgbClr val="ABB5C2"/>
                </a:solidFill>
                <a:latin typeface="Microsoft YaHei" panose="020B0503020204020204" pitchFamily="34" charset="-122"/>
              </a:rPr>
              <a:t>保存按键状态，支持移动、射击同时进行；斜向速度归一化。</a:t>
            </a:r>
            <a:endParaRPr/>
          </a:p>
        </p:txBody>
      </p:sp>
      <p:sp>
        <p:nvSpPr>
          <p:cNvPr id="89" name="矩形 9"/>
          <p:cNvSpPr/>
          <p:nvPr/>
        </p:nvSpPr>
        <p:spPr>
          <a:xfrm>
            <a:off x="6223000" y="1422400"/>
            <a:ext cx="5270500" cy="1739900"/>
          </a:xfrm>
          <a:prstGeom prst="rect">
            <a:avLst/>
          </a:prstGeom>
          <a:solidFill>
            <a:srgbClr val="181F29"/>
          </a:solidFill>
          <a:ln w="12700">
            <a:solidFill>
              <a:srgbClr val="313B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文本框 10"/>
          <p:cNvSpPr txBox="1"/>
          <p:nvPr/>
        </p:nvSpPr>
        <p:spPr>
          <a:xfrm>
            <a:off x="6451600" y="1638300"/>
            <a:ext cx="571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altLang="zh-CN" sz="1700" b="1">
                <a:solidFill>
                  <a:srgbClr val="A869FF"/>
                </a:solidFill>
                <a:latin typeface="Consolas" panose="020B0609020204030204" pitchFamily="49" charset="0"/>
              </a:rPr>
              <a:t>02</a:t>
            </a:r>
            <a:endParaRPr lang="zh-CN" altLang="en-US" sz="1700" b="1">
              <a:solidFill>
                <a:srgbClr val="A869FF"/>
              </a:solidFill>
              <a:latin typeface="Consolas" panose="020B0609020204030204" pitchFamily="49" charset="0"/>
            </a:endParaRPr>
          </a:p>
        </p:txBody>
      </p:sp>
      <p:sp>
        <p:nvSpPr>
          <p:cNvPr id="91" name="文本框 11"/>
          <p:cNvSpPr txBox="1"/>
          <p:nvPr/>
        </p:nvSpPr>
        <p:spPr>
          <a:xfrm>
            <a:off x="7137400" y="1638300"/>
            <a:ext cx="3937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sz="1500" b="1">
                <a:solidFill>
                  <a:srgbClr val="F5F7FA"/>
                </a:solidFill>
                <a:latin typeface="Microsoft YaHei" panose="020B0503020204020204" pitchFamily="34" charset="-122"/>
              </a:rPr>
              <a:t>多类型敌机与弹幕</a:t>
            </a:r>
            <a:endParaRPr/>
          </a:p>
        </p:txBody>
      </p:sp>
      <p:sp>
        <p:nvSpPr>
          <p:cNvPr id="92" name="文本框 12"/>
          <p:cNvSpPr txBox="1"/>
          <p:nvPr/>
        </p:nvSpPr>
        <p:spPr>
          <a:xfrm>
            <a:off x="7137400" y="2146300"/>
            <a:ext cx="393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sz="1100">
                <a:solidFill>
                  <a:srgbClr val="ABB5C2"/>
                </a:solidFill>
                <a:latin typeface="Microsoft YaHei" panose="020B0503020204020204" pitchFamily="34" charset="-122"/>
              </a:rPr>
              <a:t>直线、正弦运动；</a:t>
            </a:r>
            <a:r>
              <a:rPr lang="en-US" altLang="zh-CN" sz="1100">
                <a:solidFill>
                  <a:srgbClr val="ABB5C2"/>
                </a:solidFill>
                <a:latin typeface="Microsoft YaHei" panose="020B0503020204020204" pitchFamily="34" charset="-122"/>
              </a:rPr>
              <a:t>Boss </a:t>
            </a:r>
            <a:r>
              <a:rPr lang="zh-CN" altLang="en-US" sz="1100">
                <a:solidFill>
                  <a:srgbClr val="ABB5C2"/>
                </a:solidFill>
                <a:latin typeface="Microsoft YaHei" panose="020B0503020204020204" pitchFamily="34" charset="-122"/>
              </a:rPr>
              <a:t>循环使用环形、瞄准散射和螺旋弹幕。</a:t>
            </a:r>
            <a:endParaRPr/>
          </a:p>
        </p:txBody>
      </p:sp>
      <p:sp>
        <p:nvSpPr>
          <p:cNvPr id="93" name="矩形 13"/>
          <p:cNvSpPr/>
          <p:nvPr/>
        </p:nvSpPr>
        <p:spPr>
          <a:xfrm>
            <a:off x="571500" y="3517900"/>
            <a:ext cx="5270500" cy="1739900"/>
          </a:xfrm>
          <a:prstGeom prst="rect">
            <a:avLst/>
          </a:prstGeom>
          <a:solidFill>
            <a:srgbClr val="181F29"/>
          </a:solidFill>
          <a:ln w="12700">
            <a:solidFill>
              <a:srgbClr val="313B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文本框 14"/>
          <p:cNvSpPr txBox="1"/>
          <p:nvPr/>
        </p:nvSpPr>
        <p:spPr>
          <a:xfrm>
            <a:off x="800100" y="3733800"/>
            <a:ext cx="571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altLang="zh-CN" sz="1700" b="1">
                <a:solidFill>
                  <a:srgbClr val="46CD8C"/>
                </a:solidFill>
                <a:latin typeface="Consolas" panose="020B0609020204030204" pitchFamily="49" charset="0"/>
              </a:rPr>
              <a:t>03</a:t>
            </a:r>
            <a:endParaRPr lang="zh-CN" altLang="en-US" sz="1700" b="1">
              <a:solidFill>
                <a:srgbClr val="46CD8C"/>
              </a:solidFill>
              <a:latin typeface="Consolas" panose="020B0609020204030204" pitchFamily="49" charset="0"/>
            </a:endParaRPr>
          </a:p>
        </p:txBody>
      </p:sp>
      <p:sp>
        <p:nvSpPr>
          <p:cNvPr id="95" name="文本框 15"/>
          <p:cNvSpPr txBox="1"/>
          <p:nvPr/>
        </p:nvSpPr>
        <p:spPr>
          <a:xfrm>
            <a:off x="1485900" y="3733800"/>
            <a:ext cx="3937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sz="1500" b="1">
                <a:solidFill>
                  <a:srgbClr val="F5F7FA"/>
                </a:solidFill>
                <a:latin typeface="Microsoft YaHei" panose="020B0503020204020204" pitchFamily="34" charset="-122"/>
              </a:rPr>
              <a:t>精确碰撞与状态保护</a:t>
            </a:r>
            <a:endParaRPr/>
          </a:p>
        </p:txBody>
      </p:sp>
      <p:sp>
        <p:nvSpPr>
          <p:cNvPr id="96" name="文本框 16"/>
          <p:cNvSpPr txBox="1"/>
          <p:nvPr/>
        </p:nvSpPr>
        <p:spPr>
          <a:xfrm>
            <a:off x="1485900" y="4241800"/>
            <a:ext cx="393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sz="1100">
                <a:solidFill>
                  <a:srgbClr val="ABB5C2"/>
                </a:solidFill>
                <a:latin typeface="Microsoft YaHei" panose="020B0503020204020204" pitchFamily="34" charset="-122"/>
              </a:rPr>
              <a:t>重写 </a:t>
            </a:r>
            <a:r>
              <a:rPr lang="en-US" altLang="zh-CN" sz="1100">
                <a:solidFill>
                  <a:srgbClr val="ABB5C2"/>
                </a:solidFill>
                <a:latin typeface="Microsoft YaHei" panose="020B0503020204020204" pitchFamily="34" charset="-122"/>
              </a:rPr>
              <a:t>shape() </a:t>
            </a:r>
            <a:r>
              <a:rPr lang="zh-CN" altLang="en-US" sz="1100">
                <a:solidFill>
                  <a:srgbClr val="ABB5C2"/>
                </a:solidFill>
                <a:latin typeface="Microsoft YaHei" panose="020B0503020204020204" pitchFamily="34" charset="-122"/>
              </a:rPr>
              <a:t>缩小判定轮廓，配合无敌帧、护盾和边界限制。</a:t>
            </a:r>
            <a:endParaRPr/>
          </a:p>
        </p:txBody>
      </p:sp>
      <p:sp>
        <p:nvSpPr>
          <p:cNvPr id="97" name="矩形 17"/>
          <p:cNvSpPr/>
          <p:nvPr/>
        </p:nvSpPr>
        <p:spPr>
          <a:xfrm>
            <a:off x="6223000" y="3517900"/>
            <a:ext cx="5270500" cy="1739900"/>
          </a:xfrm>
          <a:prstGeom prst="rect">
            <a:avLst/>
          </a:prstGeom>
          <a:solidFill>
            <a:srgbClr val="181F29"/>
          </a:solidFill>
          <a:ln w="12700">
            <a:solidFill>
              <a:srgbClr val="313B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文本框 18"/>
          <p:cNvSpPr txBox="1"/>
          <p:nvPr/>
        </p:nvSpPr>
        <p:spPr>
          <a:xfrm>
            <a:off x="6451600" y="3733800"/>
            <a:ext cx="571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altLang="zh-CN" sz="1700" b="1">
                <a:solidFill>
                  <a:srgbClr val="FFC145"/>
                </a:solidFill>
                <a:latin typeface="Consolas" panose="020B0609020204030204" pitchFamily="49" charset="0"/>
              </a:rPr>
              <a:t>04</a:t>
            </a:r>
            <a:endParaRPr lang="zh-CN" altLang="en-US" sz="1700" b="1">
              <a:solidFill>
                <a:srgbClr val="FFC145"/>
              </a:solidFill>
              <a:latin typeface="Consolas" panose="020B0609020204030204" pitchFamily="49" charset="0"/>
            </a:endParaRPr>
          </a:p>
        </p:txBody>
      </p:sp>
      <p:sp>
        <p:nvSpPr>
          <p:cNvPr id="99" name="文本框 19"/>
          <p:cNvSpPr txBox="1"/>
          <p:nvPr/>
        </p:nvSpPr>
        <p:spPr>
          <a:xfrm>
            <a:off x="7137400" y="3733800"/>
            <a:ext cx="3937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sz="1500" b="1">
                <a:solidFill>
                  <a:srgbClr val="F5F7FA"/>
                </a:solidFill>
                <a:latin typeface="Microsoft YaHei" panose="020B0503020204020204" pitchFamily="34" charset="-122"/>
              </a:rPr>
              <a:t>波次与动态难度</a:t>
            </a:r>
            <a:endParaRPr/>
          </a:p>
        </p:txBody>
      </p:sp>
      <p:sp>
        <p:nvSpPr>
          <p:cNvPr id="100" name="文本框 20"/>
          <p:cNvSpPr txBox="1"/>
          <p:nvPr/>
        </p:nvSpPr>
        <p:spPr>
          <a:xfrm>
            <a:off x="7137400" y="4241800"/>
            <a:ext cx="3937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sz="1100">
                <a:solidFill>
                  <a:srgbClr val="ABB5C2"/>
                </a:solidFill>
                <a:latin typeface="Microsoft YaHei" panose="020B0503020204020204" pitchFamily="34" charset="-122"/>
              </a:rPr>
              <a:t>敌机数量、血量、速度和生成间隔随波次变化，普通敌机清空后进入 </a:t>
            </a:r>
            <a:r>
              <a:rPr lang="en-US" altLang="zh-CN" sz="1100">
                <a:solidFill>
                  <a:srgbClr val="ABB5C2"/>
                </a:solidFill>
                <a:latin typeface="Microsoft YaHei" panose="020B0503020204020204" pitchFamily="34" charset="-122"/>
              </a:rPr>
              <a:t>Boss </a:t>
            </a:r>
            <a:r>
              <a:rPr lang="zh-CN" altLang="en-US" sz="1100">
                <a:solidFill>
                  <a:srgbClr val="ABB5C2"/>
                </a:solidFill>
                <a:latin typeface="Microsoft YaHei" panose="020B0503020204020204" pitchFamily="34" charset="-122"/>
              </a:rPr>
              <a:t>战。</a:t>
            </a:r>
            <a:endParaRPr/>
          </a:p>
        </p:txBody>
      </p:sp>
      <p:pic>
        <p:nvPicPr>
          <p:cNvPr id="101" name="图片 22"/>
          <p:cNvPicPr/>
          <p:nvPr/>
        </p:nvPicPr>
        <p:blipFill>
          <a:blip r:embed="rId3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117600" y="5346700"/>
            <a:ext cx="965200" cy="736600"/>
          </a:xfrm>
          <a:prstGeom prst="rect">
            <a:avLst/>
          </a:prstGeom>
        </p:spPr>
      </p:pic>
      <p:pic>
        <p:nvPicPr>
          <p:cNvPr id="102" name="图片 24"/>
          <p:cNvPicPr/>
          <p:nvPr/>
        </p:nvPicPr>
        <p:blipFill>
          <a:blip r:embed="rId4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2286000" y="5219700"/>
            <a:ext cx="939800" cy="990600"/>
          </a:xfrm>
          <a:prstGeom prst="rect">
            <a:avLst/>
          </a:prstGeom>
        </p:spPr>
      </p:pic>
      <p:sp>
        <p:nvSpPr>
          <p:cNvPr id="103" name="文本框 25"/>
          <p:cNvSpPr txBox="1"/>
          <p:nvPr/>
        </p:nvSpPr>
        <p:spPr>
          <a:xfrm>
            <a:off x="3886200" y="5397500"/>
            <a:ext cx="3429000" cy="2476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sz="1600" b="1">
                <a:solidFill>
                  <a:schemeClr val="tx1">
                    <a:alpha val="100000"/>
                  </a:schemeClr>
                </a:solidFill>
                <a:latin typeface="Cambria Math"/>
                <a:ea typeface="等线"/>
                <a:cs typeface="+mn-cs"/>
              </a:rPr>
              <a:t>x(t) = x₀ + A·sin(</a:t>
            </a:r>
            <a:r>
              <a:rPr sz="1600" b="1">
                <a:solidFill>
                  <a:schemeClr val="tx1">
                    <a:alpha val="100000"/>
                  </a:schemeClr>
                </a:solidFill>
                <a:latin typeface="Cambria Math"/>
                <a:ea typeface="等线"/>
                <a:cs typeface="+mn-cs"/>
              </a:rPr>
              <a:t>ω</a:t>
            </a:r>
            <a:r>
              <a:rPr lang="en-US" sz="1600" b="1">
                <a:solidFill>
                  <a:schemeClr val="tx1">
                    <a:alpha val="100000"/>
                  </a:schemeClr>
                </a:solidFill>
                <a:latin typeface="Cambria Math"/>
                <a:ea typeface="等线"/>
                <a:cs typeface="+mn-cs"/>
              </a:rPr>
              <a:t>t + </a:t>
            </a:r>
            <a:r>
              <a:rPr sz="1600" b="1">
                <a:solidFill>
                  <a:schemeClr val="tx1">
                    <a:alpha val="100000"/>
                  </a:schemeClr>
                </a:solidFill>
                <a:latin typeface="Cambria Math"/>
                <a:ea typeface="等线"/>
                <a:cs typeface="+mn-cs"/>
              </a:rPr>
              <a:t>φ)</a:t>
            </a:r>
            <a:endParaRPr lang="zh-CN" sz="1600" b="1">
              <a:solidFill>
                <a:srgbClr val="A869FF">
                  <a:alpha val="100000"/>
                </a:srgbClr>
              </a:solidFill>
              <a:latin typeface="Cambria Math"/>
              <a:ea typeface="等线"/>
              <a:cs typeface="+mn-cs"/>
            </a:endParaRPr>
          </a:p>
        </p:txBody>
      </p:sp>
      <p:sp>
        <p:nvSpPr>
          <p:cNvPr id="104" name="文本框 26"/>
          <p:cNvSpPr txBox="1"/>
          <p:nvPr/>
        </p:nvSpPr>
        <p:spPr>
          <a:xfrm>
            <a:off x="3886200" y="5816600"/>
            <a:ext cx="4191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sz="1400" b="1">
                <a:solidFill>
                  <a:schemeClr val="tx1">
                    <a:alpha val="100000"/>
                  </a:schemeClr>
                </a:solidFill>
                <a:latin typeface="Cambria Math"/>
                <a:ea typeface="等线"/>
                <a:cs typeface="+mn-cs"/>
              </a:rPr>
              <a:t>vx = cos θ · v     vy = sin θ · v</a:t>
            </a:r>
            <a:endParaRPr lang="zh-CN" sz="1400" b="1">
              <a:solidFill>
                <a:srgbClr val="45A0FF">
                  <a:alpha val="100000"/>
                </a:srgbClr>
              </a:solidFill>
              <a:latin typeface="Cambria Math"/>
              <a:ea typeface="等线"/>
              <a:cs typeface="+mn-cs"/>
            </a:endParaRPr>
          </a:p>
        </p:txBody>
      </p:sp>
      <p:pic>
        <p:nvPicPr>
          <p:cNvPr id="105" name="图片 28"/>
          <p:cNvPicPr/>
          <p:nvPr/>
        </p:nvPicPr>
        <p:blipFill>
          <a:blip r:embed="rId5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9207500" y="5156200"/>
            <a:ext cx="990600" cy="927100"/>
          </a:xfrm>
          <a:prstGeom prst="rect">
            <a:avLst/>
          </a:prstGeom>
        </p:spPr>
      </p:pic>
      <p:pic>
        <p:nvPicPr>
          <p:cNvPr id="106" name="图片 30"/>
          <p:cNvPicPr/>
          <p:nvPr/>
        </p:nvPicPr>
        <p:blipFill>
          <a:blip r:embed="rId6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0325100" y="5156200"/>
            <a:ext cx="990600" cy="927100"/>
          </a:xfrm>
          <a:prstGeom prst="rect">
            <a:avLst/>
          </a:prstGeom>
        </p:spPr>
      </p:pic>
      <p:sp>
        <p:nvSpPr>
          <p:cNvPr id="107" name="文本框 31"/>
          <p:cNvSpPr txBox="1"/>
          <p:nvPr/>
        </p:nvSpPr>
        <p:spPr>
          <a:xfrm>
            <a:off x="571500" y="6489700"/>
            <a:ext cx="3810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altLang="zh-CN" sz="850">
                <a:solidFill>
                  <a:srgbClr val="6A788A"/>
                </a:solidFill>
                <a:latin typeface="Microsoft YaHei" panose="020B0503020204020204" pitchFamily="34" charset="-122"/>
              </a:rPr>
              <a:t>AIR WAR · </a:t>
            </a:r>
            <a:r>
              <a:rPr lang="zh-CN" altLang="en-US" sz="850">
                <a:solidFill>
                  <a:srgbClr val="6A788A"/>
                </a:solidFill>
                <a:latin typeface="Microsoft YaHei" panose="020B0503020204020204" pitchFamily="34" charset="-122"/>
              </a:rPr>
              <a:t>实习实训项目答辩</a:t>
            </a:r>
            <a:endParaRPr/>
          </a:p>
        </p:txBody>
      </p:sp>
      <p:sp>
        <p:nvSpPr>
          <p:cNvPr id="108" name="文本框 32"/>
          <p:cNvSpPr txBox="1"/>
          <p:nvPr/>
        </p:nvSpPr>
        <p:spPr>
          <a:xfrm>
            <a:off x="11112500" y="64516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FFC145"/>
                </a:solidFill>
                <a:latin typeface="Consolas" panose="020B0609020204030204" pitchFamily="49" charset="0"/>
              </a:rPr>
              <a:t>04</a:t>
            </a:r>
            <a:endParaRPr lang="zh-CN" altLang="en-US" sz="900" b="1">
              <a:solidFill>
                <a:srgbClr val="FFC14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F141B"/>
        </a:solidFill>
        <a:effectLst/>
      </p:bgPr>
    </p:bg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2192000" cy="6858000"/>
          </a:xfrm>
          <a:prstGeom prst="rect"/>
        </p:spPr>
      </p:pic>
      <p:sp>
        <p:nvSpPr>
          <p:cNvPr id="111" name="文本框 1"/>
          <p:cNvSpPr txBox="1"/>
          <p:nvPr/>
        </p:nvSpPr>
        <p:spPr>
          <a:xfrm>
            <a:off x="571500" y="393700"/>
            <a:ext cx="698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altLang="zh-CN" sz="1300" b="1">
                <a:solidFill>
                  <a:srgbClr val="FFC145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300" b="1">
              <a:solidFill>
                <a:srgbClr val="FFC14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2" name="文本框 2"/>
          <p:cNvSpPr txBox="1"/>
          <p:nvPr/>
        </p:nvSpPr>
        <p:spPr>
          <a:xfrm>
            <a:off x="1295400" y="304800"/>
            <a:ext cx="8255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sz="2600" b="1">
                <a:solidFill>
                  <a:schemeClr val="tx1">
                    <a:alpha val="100000"/>
                  </a:schemeClr>
                </a:solidFill>
                <a:latin typeface="Microsoft YaHei"/>
                <a:ea typeface="等线"/>
                <a:cs typeface="+mn-cs"/>
              </a:rPr>
              <a:t>总结与展望</a:t>
            </a:r>
            <a:endParaRPr/>
          </a:p>
        </p:txBody>
      </p:sp>
      <p:cxnSp>
        <p:nvCxnSpPr>
          <p:cNvPr id="113" name="直接连接符 3"/>
          <p:cNvCxnSpPr/>
          <p:nvPr/>
        </p:nvCxnSpPr>
        <p:spPr>
          <a:xfrm>
            <a:off x="571500" y="914400"/>
            <a:ext cx="11049000" cy="0"/>
          </a:xfrm>
          <a:prstGeom prst="line">
            <a:avLst/>
          </a:prstGeom>
          <a:ln w="12700">
            <a:solidFill>
              <a:srgbClr val="394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4"/>
          <p:cNvSpPr txBox="1"/>
          <p:nvPr/>
        </p:nvSpPr>
        <p:spPr>
          <a:xfrm>
            <a:off x="8636000" y="431800"/>
            <a:ext cx="298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000">
                <a:solidFill>
                  <a:srgbClr val="939FB0"/>
                </a:solidFill>
                <a:latin typeface="Microsoft YaHei" panose="020B0503020204020204" pitchFamily="34" charset="-122"/>
              </a:rPr>
              <a:t>从可运行闭环到持续演进</a:t>
            </a:r>
            <a:endParaRPr/>
          </a:p>
        </p:txBody>
      </p:sp>
      <p:sp>
        <p:nvSpPr>
          <p:cNvPr id="115" name="文本框 5"/>
          <p:cNvSpPr txBox="1"/>
          <p:nvPr/>
        </p:nvSpPr>
        <p:spPr>
          <a:xfrm>
            <a:off x="571500" y="1346200"/>
            <a:ext cx="1397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sz="1300" b="1">
                <a:solidFill>
                  <a:srgbClr val="46CD8C"/>
                </a:solidFill>
                <a:latin typeface="Microsoft YaHei" panose="020B0503020204020204" pitchFamily="34" charset="-122"/>
              </a:rPr>
              <a:t>已完成</a:t>
            </a:r>
            <a:endParaRPr/>
          </a:p>
        </p:txBody>
      </p:sp>
      <p:cxnSp>
        <p:nvCxnSpPr>
          <p:cNvPr id="116" name="直接连接符 6"/>
          <p:cNvCxnSpPr/>
          <p:nvPr/>
        </p:nvCxnSpPr>
        <p:spPr>
          <a:xfrm>
            <a:off x="571500" y="1765300"/>
            <a:ext cx="5105400" cy="0"/>
          </a:xfrm>
          <a:prstGeom prst="line">
            <a:avLst/>
          </a:prstGeom>
          <a:ln w="25400">
            <a:solidFill>
              <a:srgbClr val="46CD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矩形 5"/>
          <p:cNvSpPr/>
          <p:nvPr/>
        </p:nvSpPr>
        <p:spPr>
          <a:xfrm rot="0" flipH="0" flipV="0">
            <a:off x="571500" y="1943101"/>
            <a:ext cx="5048249" cy="1485899"/>
          </a:xfrm>
          <a:prstGeom prst="rect">
            <a:avLst/>
          </a:prstGeom>
          <a:solidFill>
            <a:srgbClr val="181F29"/>
          </a:solidFill>
          <a:ln w="12700">
            <a:solidFill>
              <a:srgbClr val="313B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文本框 8"/>
          <p:cNvSpPr txBox="1"/>
          <p:nvPr/>
        </p:nvSpPr>
        <p:spPr>
          <a:xfrm>
            <a:off x="6502400" y="1346200"/>
            <a:ext cx="1397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sz="1300" b="1">
                <a:solidFill>
                  <a:srgbClr val="FFC145"/>
                </a:solidFill>
                <a:latin typeface="Microsoft YaHei" panose="020B0503020204020204" pitchFamily="34" charset="-122"/>
              </a:rPr>
              <a:t>待改进</a:t>
            </a:r>
            <a:endParaRPr/>
          </a:p>
        </p:txBody>
      </p:sp>
      <p:cxnSp>
        <p:nvCxnSpPr>
          <p:cNvPr id="119" name="直接连接符 9"/>
          <p:cNvCxnSpPr/>
          <p:nvPr/>
        </p:nvCxnSpPr>
        <p:spPr>
          <a:xfrm>
            <a:off x="6502400" y="1765300"/>
            <a:ext cx="5118100" cy="0"/>
          </a:xfrm>
          <a:prstGeom prst="line">
            <a:avLst/>
          </a:prstGeom>
          <a:ln w="25400">
            <a:solidFill>
              <a:srgbClr val="FFC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 11"/>
          <p:cNvSpPr/>
          <p:nvPr/>
        </p:nvSpPr>
        <p:spPr>
          <a:xfrm>
            <a:off x="571500" y="4508500"/>
            <a:ext cx="11049000" cy="1308100"/>
          </a:xfrm>
          <a:prstGeom prst="rect">
            <a:avLst/>
          </a:prstGeom>
          <a:solidFill>
            <a:srgbClr val="1D2631"/>
          </a:solidFill>
          <a:ln w="12700">
            <a:solidFill>
              <a:srgbClr val="404C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文本框 12"/>
          <p:cNvSpPr txBox="1"/>
          <p:nvPr/>
        </p:nvSpPr>
        <p:spPr>
          <a:xfrm>
            <a:off x="825500" y="4762500"/>
            <a:ext cx="139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sz="1200" b="1">
                <a:solidFill>
                  <a:srgbClr val="FFC145"/>
                </a:solidFill>
                <a:latin typeface="Microsoft YaHei" panose="020B0503020204020204" pitchFamily="34" charset="-122"/>
              </a:rPr>
              <a:t>项目收获</a:t>
            </a:r>
            <a:endParaRPr/>
          </a:p>
        </p:txBody>
      </p:sp>
      <p:sp>
        <p:nvSpPr>
          <p:cNvPr id="122" name="文本框 13"/>
          <p:cNvSpPr txBox="1"/>
          <p:nvPr/>
        </p:nvSpPr>
        <p:spPr>
          <a:xfrm>
            <a:off x="825500" y="51816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b="1">
                <a:solidFill>
                  <a:srgbClr val="F5F7FA"/>
                </a:solidFill>
                <a:latin typeface="Microsoft YaHei" panose="020B0503020204020204" pitchFamily="34" charset="-122"/>
              </a:rPr>
              <a:t>将面向对象、事件驱动、图形绘制、二维数学与工程部署整合为一个完整可运行产品。</a:t>
            </a:r>
            <a:endParaRPr/>
          </a:p>
        </p:txBody>
      </p:sp>
      <p:sp>
        <p:nvSpPr>
          <p:cNvPr id="123" name="文本框 14"/>
          <p:cNvSpPr txBox="1"/>
          <p:nvPr/>
        </p:nvSpPr>
        <p:spPr>
          <a:xfrm>
            <a:off x="3810000" y="6032500"/>
            <a:ext cx="4572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sz="1400" b="1">
                <a:solidFill>
                  <a:schemeClr val="tx1">
                    <a:alpha val="100000"/>
                  </a:schemeClr>
                </a:solidFill>
                <a:latin typeface="Microsoft YaHei"/>
                <a:ea typeface="等线"/>
                <a:cs typeface="+mn-cs"/>
              </a:rPr>
              <a:t>感谢老师聆听</a:t>
            </a:r>
            <a:r>
              <a:rPr lang="zh-CN" sz="1400" b="1">
                <a:solidFill>
                  <a:schemeClr val="tx1">
                    <a:alpha val="100000"/>
                  </a:schemeClr>
                </a:solidFill>
                <a:latin typeface="Microsoft YaHei"/>
                <a:ea typeface="等线"/>
                <a:cs typeface="+mn-cs"/>
              </a:rPr>
              <a:t> </a:t>
            </a:r>
            <a:r>
              <a:rPr lang="en-US" sz="1400" b="1">
                <a:solidFill>
                  <a:schemeClr val="tx1">
                    <a:alpha val="100000"/>
                  </a:schemeClr>
                </a:solidFill>
                <a:latin typeface="Microsoft YaHei"/>
                <a:ea typeface="等线"/>
                <a:cs typeface="+mn-cs"/>
              </a:rPr>
              <a:t>· </a:t>
            </a:r>
            <a:r>
              <a:rPr lang="zh-CN" sz="1400" b="1">
                <a:solidFill>
                  <a:schemeClr val="tx1">
                    <a:alpha val="100000"/>
                  </a:schemeClr>
                </a:solidFill>
                <a:latin typeface="Microsoft YaHei"/>
                <a:ea typeface="等线"/>
                <a:cs typeface="+mn-cs"/>
              </a:rPr>
              <a:t>请批评指正</a:t>
            </a:r>
            <a:endParaRPr/>
          </a:p>
        </p:txBody>
      </p:sp>
      <p:sp>
        <p:nvSpPr>
          <p:cNvPr id="124" name="文本框 15"/>
          <p:cNvSpPr txBox="1"/>
          <p:nvPr/>
        </p:nvSpPr>
        <p:spPr>
          <a:xfrm>
            <a:off x="571500" y="6489700"/>
            <a:ext cx="3810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en-US" altLang="zh-CN" sz="850">
                <a:solidFill>
                  <a:srgbClr val="6A788A"/>
                </a:solidFill>
                <a:latin typeface="Microsoft YaHei" panose="020B0503020204020204" pitchFamily="34" charset="-122"/>
              </a:rPr>
              <a:t>AIR WAR · </a:t>
            </a:r>
            <a:r>
              <a:rPr lang="zh-CN" altLang="en-US" sz="850">
                <a:solidFill>
                  <a:srgbClr val="6A788A"/>
                </a:solidFill>
                <a:latin typeface="Microsoft YaHei" panose="020B0503020204020204" pitchFamily="34" charset="-122"/>
              </a:rPr>
              <a:t>实习实训项目答辩</a:t>
            </a:r>
            <a:endParaRPr/>
          </a:p>
        </p:txBody>
      </p:sp>
      <p:sp>
        <p:nvSpPr>
          <p:cNvPr id="125" name="文本框 16"/>
          <p:cNvSpPr txBox="1"/>
          <p:nvPr/>
        </p:nvSpPr>
        <p:spPr>
          <a:xfrm>
            <a:off x="11112500" y="64516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FFC145"/>
                </a:solidFill>
                <a:latin typeface="Consolas" panose="020B0609020204030204" pitchFamily="49" charset="0"/>
              </a:rPr>
              <a:t>05</a:t>
            </a:r>
            <a:endParaRPr lang="zh-CN" altLang="en-US" sz="900" b="1">
              <a:solidFill>
                <a:srgbClr val="FFC145"/>
              </a:solidFill>
              <a:latin typeface="Consolas" panose="020B0609020204030204" pitchFamily="49" charset="0"/>
            </a:endParaRPr>
          </a:p>
        </p:txBody>
      </p:sp>
      <p:sp>
        <p:nvSpPr>
          <p:cNvPr id="126" name="文本框 7"/>
          <p:cNvSpPr txBox="1"/>
          <p:nvPr/>
        </p:nvSpPr>
        <p:spPr>
          <a:xfrm rot="0" flipH="0" flipV="0">
            <a:off x="648773" y="2187605"/>
            <a:ext cx="5118100" cy="9144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sz="1500">
                <a:solidFill>
                  <a:srgbClr val="F5F7FA"/>
                </a:solidFill>
                <a:latin typeface="Microsoft YaHei" panose="020B0503020204020204" pitchFamily="34" charset="-122"/>
              </a:rPr>
              <a:t>三种游戏模式与双人控制
基础敌机、精英敌机与多阶段 </a:t>
            </a:r>
            <a:r>
              <a:rPr lang="en-US" altLang="zh-CN" sz="1500">
                <a:solidFill>
                  <a:srgbClr val="F5F7FA"/>
                </a:solidFill>
                <a:latin typeface="Microsoft YaHei" panose="020B0503020204020204" pitchFamily="34" charset="-122"/>
              </a:rPr>
              <a:t>Boss
</a:t>
            </a:r>
            <a:r>
              <a:rPr lang="zh-CN" altLang="en-US" sz="1500">
                <a:solidFill>
                  <a:srgbClr val="F5F7FA"/>
                </a:solidFill>
                <a:latin typeface="Microsoft YaHei" panose="020B0503020204020204" pitchFamily="34" charset="-122"/>
              </a:rPr>
              <a:t>四类道具、炸弹、</a:t>
            </a:r>
            <a:r>
              <a:rPr lang="en-US" altLang="zh-CN" sz="1500">
                <a:solidFill>
                  <a:srgbClr val="F5F7FA"/>
                </a:solidFill>
                <a:latin typeface="Microsoft YaHei" panose="020B0503020204020204" pitchFamily="34" charset="-122"/>
              </a:rPr>
              <a:t>HUD</a:t>
            </a:r>
            <a:r>
              <a:rPr lang="zh-CN" altLang="en-US" sz="1500">
                <a:solidFill>
                  <a:srgbClr val="F5F7FA"/>
                </a:solidFill>
                <a:latin typeface="Microsoft YaHei" panose="020B0503020204020204" pitchFamily="34" charset="-122"/>
              </a:rPr>
              <a:t>、帮助与结算
波次系统、动态难度与 </a:t>
            </a:r>
            <a:r>
              <a:rPr lang="en-US" altLang="zh-CN" sz="1500">
                <a:solidFill>
                  <a:srgbClr val="F5F7FA"/>
                </a:solidFill>
                <a:latin typeface="Microsoft YaHei" panose="020B0503020204020204" pitchFamily="34" charset="-122"/>
              </a:rPr>
              <a:t>Windows </a:t>
            </a:r>
            <a:r>
              <a:rPr lang="zh-CN" altLang="en-US" sz="1500">
                <a:solidFill>
                  <a:srgbClr val="F5F7FA"/>
                </a:solidFill>
                <a:latin typeface="Microsoft YaHei" panose="020B0503020204020204" pitchFamily="34" charset="-122"/>
              </a:rPr>
              <a:t>部署</a:t>
            </a:r>
            <a:endParaRPr/>
          </a:p>
        </p:txBody>
      </p:sp>
      <p:sp>
        <p:nvSpPr>
          <p:cNvPr id="127" name="矩形 5"/>
          <p:cNvSpPr/>
          <p:nvPr/>
        </p:nvSpPr>
        <p:spPr>
          <a:xfrm rot="0" flipH="0" flipV="0">
            <a:off x="6502400" y="1978055"/>
            <a:ext cx="5048249" cy="1485899"/>
          </a:xfrm>
          <a:prstGeom prst="rect">
            <a:avLst/>
          </a:prstGeom>
          <a:solidFill>
            <a:srgbClr val="181F29"/>
          </a:solidFill>
          <a:ln w="12700">
            <a:solidFill>
              <a:srgbClr val="313B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文本框 10"/>
          <p:cNvSpPr txBox="1"/>
          <p:nvPr/>
        </p:nvSpPr>
        <p:spPr>
          <a:xfrm rot="0" flipH="0" flipV="0">
            <a:off x="6572251" y="2224386"/>
            <a:ext cx="5080000" cy="9233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/>
            <a:r>
              <a:rPr lang="zh-CN" altLang="en-US" sz="1500">
                <a:solidFill>
                  <a:srgbClr val="F5F7FA"/>
                </a:solidFill>
                <a:latin typeface="Microsoft YaHei" panose="020B0503020204020204" pitchFamily="34" charset="-122"/>
              </a:rPr>
              <a:t>真正的暂停 </a:t>
            </a:r>
            <a:r>
              <a:rPr lang="en-US" altLang="zh-CN" sz="1500">
                <a:solidFill>
                  <a:srgbClr val="F5F7FA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F5F7FA"/>
                </a:solidFill>
                <a:latin typeface="Microsoft YaHei" panose="020B0503020204020204" pitchFamily="34" charset="-122"/>
              </a:rPr>
              <a:t>恢复与历史最高分
背景音乐、射击与爆炸音效
</a:t>
            </a:r>
            <a:r>
              <a:rPr lang="en-US" altLang="zh-CN" sz="1500">
                <a:solidFill>
                  <a:srgbClr val="F5F7FA"/>
                </a:solidFill>
                <a:latin typeface="Microsoft YaHei" panose="020B0503020204020204" pitchFamily="34" charset="-122"/>
              </a:rPr>
              <a:t>JSON </a:t>
            </a:r>
            <a:r>
              <a:rPr lang="zh-CN" altLang="en-US" sz="1500">
                <a:solidFill>
                  <a:srgbClr val="F5F7FA"/>
                </a:solidFill>
                <a:latin typeface="Microsoft YaHei" panose="020B0503020204020204" pitchFamily="34" charset="-122"/>
              </a:rPr>
              <a:t>数据驱动关卡与参数配置
对象池、空间分区与自动化测试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2026-07-16T12:20:25Z</dcterms:created>
  <dcterms:modified xsi:type="dcterms:W3CDTF">2026-07-16T12:20:25Z</dcterms:modified>
</cp:coreProperties>
</file>